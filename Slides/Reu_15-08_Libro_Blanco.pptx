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64" r:id="rId15"/>
    <p:sldId id="257" r:id="rId7"/>
    <p:sldId id="258" r:id="rId8"/>
    <p:sldId id="259" r:id="rId9"/>
    <p:sldId id="260" r:id="rId10"/>
    <p:sldId id="261" r:id="rId11"/>
    <p:sldId id="262" r:id="rId12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zYvx6+yubJB91f7qCJlqY9p48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5A4B80-37F1-4B6B-AD5E-9F7A083A073E}">
  <a:tblStyle styleId="{245A4B80-37F1-4B6B-AD5E-9F7A083A07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45DF982-1AF4-4FB0-8324-527E0B633D9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7aa730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57aa730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57aa730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80f3e26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580f3e26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580f3e26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3b9e97853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3b9e97853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b9e97853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3b9e97853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3b9e97853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claude.ai/code/artifact/361bea18-1f1f-4dd6-9ac3-3e73ec51db4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claude.ai/code/artifact/361bea18-1f1f-4dd6-9ac3-3e73ec51db49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hyperlink" Target="https://claude.ai/code/artifact/361bea18-1f1f-4dd6-9ac3-3e73ec51db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45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489704"/>
            <a:ext cx="9144000" cy="41148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white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512064"/>
            <a:ext cx="2258568" cy="92171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612648" y="1444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CF0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Enriquecimiento y hallazgos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12648" y="1755648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Libro Blanco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12648" y="27889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3E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3E5"/>
                </a:solidFill>
                <a:latin typeface="Calibri"/>
                <a:ea typeface="Calibri"/>
                <a:cs typeface="Calibri"/>
                <a:sym typeface="Calibri"/>
              </a:rPr>
              <a:t>Universo, cobertura del enriquecimiento y hallazgos principales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3E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3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01 · UNIVERSO Y FILTROS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11480" y="51206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Del universo a las publicaciones enriquecidas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29768" y="1298448"/>
            <a:ext cx="5257800" cy="658368"/>
          </a:xfrm>
          <a:prstGeom prst="roundRect">
            <a:avLst>
              <a:gd fmla="val 8333" name="adj"/>
            </a:avLst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66928" y="1298448"/>
            <a:ext cx="4983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Todos los proyectos (Excel fuente)</a:t>
            </a:r>
            <a:b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BCF0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1,928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29768" y="2103120"/>
            <a:ext cx="4754880" cy="658368"/>
          </a:xfrm>
          <a:prstGeom prst="roundRect">
            <a:avLst>
              <a:gd fmla="val 8333" name="adj"/>
            </a:avLst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66928" y="2103120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Año ≥ 2010  y  Estado = “5. Cerrado”   ← el universo</a:t>
            </a:r>
            <a:b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BCF0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938  proyectos cerrados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9768" y="2907792"/>
            <a:ext cx="4251960" cy="658368"/>
          </a:xfrm>
          <a:prstGeom prst="roundRect">
            <a:avLst>
              <a:gd fmla="val 8333" name="adj"/>
            </a:avLst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66928" y="2907792"/>
            <a:ext cx="3977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D7DEE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  <a:t>Unidos a resultados declarados (PROY_RESULTADOS · dataset 06)</a:t>
            </a:r>
            <a:br>
              <a:rPr b="0" i="0" lang="en-US" sz="900" u="none" cap="none" strike="noStrike">
                <a:solidFill>
                  <a:srgbClr val="D7DEE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BCF0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361 proy. · 2,908 filas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29768" y="3712464"/>
            <a:ext cx="3749040" cy="658368"/>
          </a:xfrm>
          <a:prstGeom prst="roundRect">
            <a:avLst>
              <a:gd fmla="val 8333" name="adj"/>
            </a:avLst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66928" y="3712464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Solo resultados tipo publicación (dataset 07)</a:t>
            </a:r>
            <a:br>
              <a:rPr b="0" i="0" lang="en-US" sz="9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335 proy. · 1,192 filas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897880" y="1298448"/>
            <a:ext cx="2880360" cy="1417320"/>
          </a:xfrm>
          <a:prstGeom prst="roundRect">
            <a:avLst>
              <a:gd fmla="val 3871" name="adj"/>
            </a:avLst>
          </a:prstGeom>
          <a:solidFill>
            <a:srgbClr val="F1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062472" y="1389888"/>
            <a:ext cx="2551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Ventana temporal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062472" y="1645920"/>
            <a:ext cx="25511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Universo = proyectos cerrados desde 2010 (sin tope superior). </a:t>
            </a:r>
            <a:endParaRPr b="0" i="0" sz="950" u="none" cap="none" strike="noStrike">
              <a:solidFill>
                <a:srgbClr val="1A24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24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En los datos: 2010–2023 </a:t>
            </a:r>
            <a:r>
              <a:rPr lang="en-US" sz="95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9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aún no hay cerrados en 2024/2025</a:t>
            </a:r>
            <a:r>
              <a:rPr lang="en-US" sz="95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754880"/>
            <a:ext cx="685800" cy="27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02 · CON QUÉ ENRIQUECIMOS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11480" y="51206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22 columnas nuevas + corpus de apoyo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29775" y="1176850"/>
            <a:ext cx="4114800" cy="2198700"/>
          </a:xfrm>
          <a:prstGeom prst="roundRect">
            <a:avLst>
              <a:gd fmla="val 2703" name="adj"/>
            </a:avLst>
          </a:prstGeom>
          <a:solidFill>
            <a:srgbClr val="F1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29768" y="1176840"/>
            <a:ext cx="4114800" cy="457200"/>
          </a:xfrm>
          <a:prstGeom prst="roundRect">
            <a:avLst>
              <a:gd fmla="val 12000" name="adj"/>
            </a:avLst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29768" y="1414584"/>
            <a:ext cx="4114800" cy="2196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94360" y="1176840"/>
            <a:ext cx="37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OpenAlex  </a:t>
            </a:r>
            <a:r>
              <a:rPr b="0" i="0" lang="en-US" sz="95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12 columnas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94360" y="1743768"/>
            <a:ext cx="380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work_id </a:t>
            </a:r>
            <a:endParaRPr sz="930">
              <a:solidFill>
                <a:srgbClr val="1A24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DOI </a:t>
            </a:r>
            <a:endParaRPr sz="930">
              <a:solidFill>
                <a:srgbClr val="1A24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ño de publicación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Open Access: is_oa, status, url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nº de citas</a:t>
            </a:r>
            <a:endParaRPr sz="930">
              <a:solidFill>
                <a:srgbClr val="1A24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evista / venu</a:t>
            </a: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utores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nstituciones: nombre y país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lang="en-US" sz="93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olumna de error de enriquecimiento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690872" y="1176840"/>
            <a:ext cx="4114800" cy="2030100"/>
          </a:xfrm>
          <a:prstGeom prst="roundRect">
            <a:avLst>
              <a:gd fmla="val 2703" name="adj"/>
            </a:avLst>
          </a:prstGeom>
          <a:solidFill>
            <a:srgbClr val="F1F4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690872" y="1176840"/>
            <a:ext cx="4114800" cy="457200"/>
          </a:xfrm>
          <a:prstGeom prst="roundRect">
            <a:avLst>
              <a:gd fmla="val 12000" name="adj"/>
            </a:avLst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690872" y="1414584"/>
            <a:ext cx="4114800" cy="2196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855464" y="1176840"/>
            <a:ext cx="37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Resúmenes  </a:t>
            </a:r>
            <a:r>
              <a:rPr b="0" i="0" lang="en-US" sz="950" u="none" cap="none" strike="noStrike">
                <a:solidFill>
                  <a:srgbClr val="CBCF07"/>
                </a:solidFill>
                <a:latin typeface="Calibri"/>
                <a:ea typeface="Calibri"/>
                <a:cs typeface="Calibri"/>
                <a:sym typeface="Calibri"/>
              </a:rPr>
              <a:t>10 columnas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855475" y="1743772"/>
            <a:ext cx="38040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0" lvl="0" marL="12700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resumen  +  fuente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palabras clave  +  fuente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título +  fuente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  <a:buClr>
                <a:srgbClr val="1A2440"/>
              </a:buClr>
              <a:buSzPts val="930"/>
              <a:buFont typeface="Calibri"/>
              <a:buChar char="•"/>
            </a:pP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IDs externos: Scopus, EID,</a:t>
            </a:r>
            <a:r>
              <a:rPr lang="en-US" sz="9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3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PubMed, OpenAlex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754880"/>
            <a:ext cx="685800" cy="27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03 · COBERTURA (FILL RATES)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11480" y="51206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Cobertura del enriquecimiento con </a:t>
            </a:r>
            <a:r>
              <a:rPr b="1" lang="en-US" sz="2000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OpenAlex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29768" y="1133856"/>
            <a:ext cx="8321040" cy="512064"/>
          </a:xfrm>
          <a:prstGeom prst="roundRect">
            <a:avLst>
              <a:gd fmla="val 8929" name="adj"/>
            </a:avLst>
          </a:prstGeom>
          <a:solidFill>
            <a:srgbClr val="F7F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94360" y="1133856"/>
            <a:ext cx="8046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8A7F00"/>
              </a:buClr>
              <a:buSzPts val="1100"/>
              <a:buFont typeface="Calibri"/>
              <a:buNone/>
            </a:pPr>
            <a:r>
              <a:rPr b="0" i="0" lang="en-US" sz="10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OpenAlex se consultó </a:t>
            </a:r>
            <a:r>
              <a:rPr i="0" lang="en-US" sz="105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solo para las 1,192 filas tipo publicación</a:t>
            </a:r>
            <a:r>
              <a:rPr lang="en-US" sz="1050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4"/>
          <p:cNvGraphicFramePr/>
          <p:nvPr/>
        </p:nvGraphicFramePr>
        <p:xfrm>
          <a:off x="429768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{245A4B80-37F1-4B6B-AD5E-9F7A083A073E}</a:tableStyleId>
              </a:tblPr>
              <a:tblGrid>
                <a:gridCol w="3931925"/>
                <a:gridCol w="2194550"/>
                <a:gridCol w="21945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BD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EBB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todos (2,908)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publicación (1,192)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F0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Emparejado a una obra OpenAlex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595 · 20.5%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595 · 49.9%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autores OpenAlex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592 · 20.4%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592 · 49.7%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nombre de revista / 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510 · 17.5%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510 · 42.8%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país de la institución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485 · 16.7%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485 · 40.7%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título de resumen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 · 13.2%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 · 32.2%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texto de resumen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 · 5.9%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 · 14.4%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palabras clave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 · 2.6%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 · 6.3%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</a:tbl>
          </a:graphicData>
        </a:graphic>
      </p:graphicFrame>
      <p:sp>
        <p:nvSpPr>
          <p:cNvPr id="77" name="Google Shape;77;p4"/>
          <p:cNvSpPr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754880"/>
            <a:ext cx="685800" cy="27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7aa73056_0_0"/>
          <p:cNvSpPr/>
          <p:nvPr/>
        </p:nvSpPr>
        <p:spPr>
          <a:xfrm>
            <a:off x="0" y="0"/>
            <a:ext cx="123300" cy="51435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f57aa73056_0_0"/>
          <p:cNvSpPr/>
          <p:nvPr/>
        </p:nvSpPr>
        <p:spPr>
          <a:xfrm>
            <a:off x="411480" y="274320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03 · COBERTURA (FILL RATES)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57aa73056_0_0"/>
          <p:cNvSpPr/>
          <p:nvPr/>
        </p:nvSpPr>
        <p:spPr>
          <a:xfrm>
            <a:off x="411480" y="512064"/>
            <a:ext cx="832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Cobertura del enriquecimiento con </a:t>
            </a:r>
            <a:r>
              <a:rPr b="1" lang="en-US" sz="2000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resúmenes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57aa73056_0_0"/>
          <p:cNvSpPr/>
          <p:nvPr/>
        </p:nvSpPr>
        <p:spPr>
          <a:xfrm>
            <a:off x="429768" y="1005840"/>
            <a:ext cx="749700" cy="29400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" name="Google Shape;88;g3f57aa73056_0_0"/>
          <p:cNvGraphicFramePr/>
          <p:nvPr/>
        </p:nvGraphicFramePr>
        <p:xfrm>
          <a:off x="429768" y="1145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{245A4B80-37F1-4B6B-AD5E-9F7A083A073E}</a:tableStyleId>
              </a:tblPr>
              <a:tblGrid>
                <a:gridCol w="3931925"/>
                <a:gridCol w="2194550"/>
                <a:gridCol w="2194550"/>
              </a:tblGrid>
              <a:tr h="288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endParaRPr b="1" sz="1000">
                        <a:solidFill>
                          <a:srgbClr val="F8F8F2"/>
                        </a:solidFill>
                        <a:highlight>
                          <a:srgbClr val="21222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todos (2,908)</a:t>
                      </a:r>
                      <a:endParaRPr b="1" sz="1000">
                        <a:solidFill>
                          <a:srgbClr val="F8F8F2"/>
                        </a:solidFill>
                        <a:highlight>
                          <a:srgbClr val="21222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publicación (1,192)</a:t>
                      </a:r>
                      <a:endParaRPr b="1" sz="1000">
                        <a:solidFill>
                          <a:srgbClr val="F8F8F2"/>
                        </a:solidFill>
                        <a:highlight>
                          <a:srgbClr val="21222C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F0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título 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 · 13.2%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 · 32.2%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texto de resumen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 · 5.9%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 · 14.4%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palabras clave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 · 2.6%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 · 6.3%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Scopus ID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323 · 11.1%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323 · 27.1%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EID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323 · 11.1%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323 · 27.1%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PubMed ID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· 2.1%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· 5.0%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OpenAlex ID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· 1.0%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· 2.4%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9050" marL="19050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g3f57aa73056_0_0"/>
          <p:cNvSpPr/>
          <p:nvPr/>
        </p:nvSpPr>
        <p:spPr>
          <a:xfrm>
            <a:off x="237744" y="482803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90" name="Google Shape;90;g3f57aa7305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754880"/>
            <a:ext cx="685799" cy="27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580f3e264_1_0"/>
          <p:cNvSpPr/>
          <p:nvPr/>
        </p:nvSpPr>
        <p:spPr>
          <a:xfrm>
            <a:off x="411480" y="274320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000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000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RESUMEN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g3f580f3e264_1_0"/>
          <p:cNvGraphicFramePr/>
          <p:nvPr/>
        </p:nvGraphicFramePr>
        <p:xfrm>
          <a:off x="1463031" y="1995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{245A4B80-37F1-4B6B-AD5E-9F7A083A073E}</a:tableStyleId>
              </a:tblPr>
              <a:tblGrid>
                <a:gridCol w="3931925"/>
                <a:gridCol w="21945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Publicación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F0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Registros totales</a:t>
                      </a:r>
                      <a:endParaRPr sz="1000">
                        <a:solidFill>
                          <a:srgbClr val="1A24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1192</a:t>
                      </a:r>
                      <a:endParaRPr b="1" sz="1000">
                        <a:solidFill>
                          <a:srgbClr val="06245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resúmenes</a:t>
                      </a:r>
                      <a:endParaRPr sz="1000">
                        <a:solidFill>
                          <a:srgbClr val="1A24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 (14.4%)</a:t>
                      </a:r>
                      <a:endParaRPr b="1" sz="1000" u="none" cap="none" strike="noStrike">
                        <a:solidFill>
                          <a:srgbClr val="06245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palabras clave</a:t>
                      </a:r>
                      <a:endParaRPr sz="1000">
                        <a:solidFill>
                          <a:srgbClr val="1A24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 (6.3%)</a:t>
                      </a:r>
                      <a:endParaRPr b="1" sz="1000" u="none" cap="none" strike="noStrike">
                        <a:solidFill>
                          <a:srgbClr val="06245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</a:tbl>
          </a:graphicData>
        </a:graphic>
      </p:graphicFrame>
      <p:sp>
        <p:nvSpPr>
          <p:cNvPr id="98" name="Rounded Rectangle 97"/>
          <p:cNvSpPr/>
          <p:nvPr/>
        </p:nvSpPr>
        <p:spPr>
          <a:xfrm>
            <a:off x="429768" y="2900000"/>
            <a:ext cx="8284464" cy="90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9768" y="2900000"/>
            <a:ext cx="7984464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A2440"/>
                </a:solidFill>
                <a:latin typeface="Calibri"/>
              </a:rPr>
              <a:t>Nota — por qué este % difiere del 71.3% de otra slide: </a:t>
            </a:r>
            <a:r>
              <a:rPr sz="900" b="0">
                <a:solidFill>
                  <a:srgbClr val="1A2440"/>
                </a:solidFill>
                <a:latin typeface="Calibri"/>
              </a:rPr>
              <a:t>estas cifras miden columnas individuales del archivo de 1,192 filas (ground truth). El experimento "publicaciones ligadas a proyectos" combina varias fuentes con fallback y logra 850/1,192 (71.3%) con algún texto usable — no es una cifra inconsistente, mide cobertura combinada, no cobertura de una sola columna.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b9e97853_3_0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3b9e97853_3_0"/>
          <p:cNvSpPr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5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C52FF"/>
                </a:solidFill>
                <a:latin typeface="Calibri"/>
                <a:ea typeface="Calibri"/>
                <a:cs typeface="Calibri"/>
                <a:sym typeface="Calibri"/>
              </a:rPr>
              <a:t>05 · CONTENIDO OPENALEX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3b9e97853_3_0"/>
          <p:cNvSpPr/>
          <p:nvPr/>
        </p:nvSpPr>
        <p:spPr>
          <a:xfrm>
            <a:off x="411480" y="51206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45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Cobertura del enriquecimiento con países de institución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3b9e97853_3_0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3b9e97853_3_0"/>
          <p:cNvSpPr/>
          <p:nvPr/>
        </p:nvSpPr>
        <p:spPr>
          <a:xfrm>
            <a:off x="429768" y="1133856"/>
            <a:ext cx="8321040" cy="512064"/>
          </a:xfrm>
          <a:prstGeom prst="roundRect">
            <a:avLst>
              <a:gd fmla="val 8929" name="adj"/>
            </a:avLst>
          </a:prstGeom>
          <a:solidFill>
            <a:srgbClr val="F7F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3b9e97853_3_0"/>
          <p:cNvSpPr/>
          <p:nvPr/>
        </p:nvSpPr>
        <p:spPr>
          <a:xfrm>
            <a:off x="594360" y="1133856"/>
            <a:ext cx="8046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8A7F00"/>
              </a:buClr>
              <a:buSzPts val="1100"/>
              <a:buFont typeface="Calibri"/>
              <a:buNone/>
            </a:pPr>
            <a:r>
              <a:rPr b="0" i="0" lang="en-US" sz="10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El país de institución </a:t>
            </a:r>
            <a:r>
              <a:rPr b="0" i="0" lang="en-US" sz="1050" u="none" cap="none" strike="noStrike">
                <a:solidFill>
                  <a:srgbClr val="062454"/>
                </a:solidFill>
                <a:latin typeface="Calibri"/>
                <a:ea typeface="Calibri"/>
                <a:cs typeface="Calibri"/>
                <a:sym typeface="Calibri"/>
              </a:rPr>
              <a:t>se identificó en 485 de las 595 filas emparejadas (81.5%)</a:t>
            </a:r>
            <a:r>
              <a:rPr b="0" i="0" lang="en-US" sz="1050" u="none" cap="none" strike="noStrike">
                <a:solidFill>
                  <a:srgbClr val="1A2440"/>
                </a:solidFill>
                <a:latin typeface="Calibri"/>
                <a:ea typeface="Calibri"/>
                <a:cs typeface="Calibri"/>
                <a:sym typeface="Calibri"/>
              </a:rPr>
              <a:t>; una publicación puede tener autores de más de un país.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g3f3b9e97853_3_0"/>
          <p:cNvGraphicFramePr/>
          <p:nvPr/>
        </p:nvGraphicFramePr>
        <p:xfrm>
          <a:off x="429768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{F45DF982-1AF4-4FB0-8324-527E0B633D99}</a:tableStyleId>
              </a:tblPr>
              <a:tblGrid>
                <a:gridCol w="3931925"/>
                <a:gridCol w="2194550"/>
                <a:gridCol w="21945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País de la institución (código ISO)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BD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EBB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Menciones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las 485 filas con país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F0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Perú (PE)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Estados Unidos (US)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España (ES)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Brasil (BR)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Alemania (DE)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México (MX)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Francia (FR)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545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5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4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624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CE0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g3f3b9e97853_3_0"/>
          <p:cNvSpPr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110" name="Google Shape;110;g3f3b9e97853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754880"/>
            <a:ext cx="685800" cy="27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f3b9e97853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50" y="279750"/>
            <a:ext cx="4092225" cy="43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00 · FLUJO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De la fuente al hallazgo: el flujo completo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1080000"/>
            <a:ext cx="8284464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45454"/>
                </a:solidFill>
                <a:latin typeface="Calibri"/>
              </a:rPr>
              <a:t>Nota: 3 experimentos distintos, no un solo pipeline lineal — proyectos (975, VRI+CRIS), publicaciones catálogo completo (13,995, independiente de proyectos) y publicaciones ligadas a proyectos (850/1,192). Ver slides 07–12.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48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68" y="148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D7DEEC"/>
                </a:solidFill>
                <a:latin typeface="Calibri"/>
              </a:rPr>
              <a:t>PASO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BCF07"/>
                </a:solidFill>
                <a:latin typeface="Calibri"/>
              </a:rPr>
              <a:t>Fuente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D7DEEC"/>
                </a:solidFill>
                <a:latin typeface="Calibri"/>
              </a:rPr>
              <a:t>Excel VRI (1,928 proyectos) + export CRIS (DSpace) + Scopus/WoS/RI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256" y="148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1256" y="148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D7DEEC"/>
                </a:solidFill>
                <a:latin typeface="Calibri"/>
              </a:rPr>
              <a:t>PASO 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BCF07"/>
                </a:solidFill>
                <a:latin typeface="Calibri"/>
              </a:rPr>
              <a:t>Filtro de universo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D7DEEC"/>
                </a:solidFill>
                <a:latin typeface="Calibri"/>
              </a:rPr>
              <a:t>Cerrados desde 2010 → 938 (VRI) + 37 (CRIS-only) = 975 proyectos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2744" y="148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2744" y="148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D7DEEC"/>
                </a:solidFill>
                <a:latin typeface="Calibri"/>
              </a:rPr>
              <a:t>PASO 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BCF07"/>
                </a:solidFill>
                <a:latin typeface="Calibri"/>
              </a:rPr>
              <a:t>Enriquecimiento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D7DEEC"/>
                </a:solidFill>
                <a:latin typeface="Calibri"/>
              </a:rPr>
              <a:t>+22 columnas (OpenAlex+resúmenes) → 1,192 filas tipo publicación; +CRIS (coinvestigadores, OCDE); Scopus abstract-bug corregido + backfill OpenAlex (73.2% cobertura)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13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68" y="313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D7DEEC"/>
                </a:solidFill>
                <a:latin typeface="Calibri"/>
              </a:rPr>
              <a:t>PASO 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BCF07"/>
                </a:solidFill>
                <a:latin typeface="Calibri"/>
              </a:rPr>
              <a:t>Embeddings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D7DEEC"/>
                </a:solidFill>
                <a:latin typeface="Calibri"/>
              </a:rPr>
              <a:t>3 pistas independientes — 7 modelos multilingües comparados en cada una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256" y="313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1256" y="313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D7DEEC"/>
                </a:solidFill>
                <a:latin typeface="Calibri"/>
              </a:rPr>
              <a:t>PASO 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BCF07"/>
                </a:solidFill>
                <a:latin typeface="Calibri"/>
              </a:rPr>
              <a:t>Clustering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D7DEEC"/>
                </a:solidFill>
                <a:latin typeface="Calibri"/>
              </a:rPr>
              <a:t>4 métodos comparados en las 3 pistas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2744" y="3130000"/>
            <a:ext cx="2561488" cy="1440000"/>
          </a:xfrm>
          <a:prstGeom prst="roundRect">
            <a:avLst>
              <a:gd name="adj" fmla="val 8000"/>
            </a:avLst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2744" y="3130000"/>
            <a:ext cx="2241488" cy="1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62454"/>
                </a:solidFill>
                <a:latin typeface="Calibri"/>
              </a:rPr>
              <a:t>PASO 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62454"/>
                </a:solidFill>
                <a:latin typeface="Calibri"/>
              </a:rPr>
              <a:t>Hallazgos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A2440"/>
                </a:solidFill>
                <a:latin typeface="Calibri"/>
              </a:rPr>
              <a:t>jina-v5-nano es el más consistente. Mejor silhouette por pista: Proyectos 0.27, Publicaciones-catálogo 0.29, Publicaciones-ligadas 0.36</a:t>
            </a:r>
          </a:p>
        </p:txBody>
      </p:sp>
      <p:sp>
        <p:nvSpPr>
          <p:cNvPr id="22" name="Chevron 21"/>
          <p:cNvSpPr/>
          <p:nvPr/>
        </p:nvSpPr>
        <p:spPr>
          <a:xfrm>
            <a:off x="3056256" y="2070000"/>
            <a:ext cx="170000" cy="260000"/>
          </a:xfrm>
          <a:prstGeom prst="chevron">
            <a:avLst/>
          </a:prstGeom>
          <a:solidFill>
            <a:srgbClr val="AE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5917744" y="2070000"/>
            <a:ext cx="170000" cy="260000"/>
          </a:xfrm>
          <a:prstGeom prst="chevron">
            <a:avLst/>
          </a:prstGeom>
          <a:solidFill>
            <a:srgbClr val="AE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3056256" y="3720000"/>
            <a:ext cx="170000" cy="260000"/>
          </a:xfrm>
          <a:prstGeom prst="chevron">
            <a:avLst/>
          </a:prstGeom>
          <a:solidFill>
            <a:srgbClr val="AE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917744" y="3720000"/>
            <a:ext cx="170000" cy="260000"/>
          </a:xfrm>
          <a:prstGeom prst="chevron">
            <a:avLst/>
          </a:prstGeom>
          <a:solidFill>
            <a:srgbClr val="AE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4482000" y="2935000"/>
            <a:ext cx="180000" cy="180000"/>
          </a:xfrm>
          <a:prstGeom prst="downArrow">
            <a:avLst/>
          </a:prstGeom>
          <a:solidFill>
            <a:srgbClr val="AE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06 · RESUMEN DE EXPERIMENTOS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Filas usadas y cobertura de texto por experimento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9768" y="1300000"/>
          <a:ext cx="8284464" cy="1700000"/>
        </p:xfrm>
        <a:graphic>
          <a:graphicData uri="http://schemas.openxmlformats.org/drawingml/2006/table">
            <a:tbl>
              <a:tblPr/>
              <a:tblGrid>
                <a:gridCol w="2450000"/>
                <a:gridCol w="1250000"/>
                <a:gridCol w="1250000"/>
                <a:gridCol w="1050000"/>
                <a:gridCol w="2284464"/>
              </a:tblGrid>
              <a:tr h="425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Experimento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Filas candidatas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Filas usadas
(con texto)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% de llenado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0624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Nota de contenido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062454"/>
                    </a:solidFill>
                  </a:tcPr>
                </a:tc>
              </a:tr>
              <a:tr h="42500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Proyectos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975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975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Título casi siempre presente; líneas de investigación 38-40%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Publicaciones — catálogo completo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13,995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13,995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Abstract real: 73.2% (10,245) — el resto solo título/revista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EBEBEB"/>
                    </a:solidFill>
                  </a:tcPr>
                </a:tc>
              </a:tr>
              <a:tr h="42500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Publicaciones — ligadas a proyectos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1,192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71.3%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1A2440"/>
                          </a:solidFill>
                          <a:latin typeface="Calibri"/>
                        </a:rPr>
                        <a:t>342 sin ningún campo de texto (título/resumen/palabras clave/revista) se excluyen</a:t>
                      </a:r>
                    </a:p>
                  </a:txBody>
                  <a:tcPr anchor="ctr" marL="65000" marR="45000" marT="18000" marB="18000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noFill/>
                    </a:lnT>
                    <a:lnB w="3175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29768" y="3300000"/>
            <a:ext cx="8284464" cy="62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68" y="3300000"/>
            <a:ext cx="7984464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A2440"/>
                </a:solidFill>
                <a:latin typeface="Calibri"/>
              </a:rPr>
              <a:t>"% de llenado" = filas que pasan el filtro de texto usable de clustering_experiments.py (al menos una columna no vacía tras combinar todas las columnas de esa pista). Proyectos y publicaciones-catálogo llegan a 100% porque el título casi nunca falta — eso no implica contenido rico, solo presencia; ver la columna de nota para la cobertura de texto sustantivo.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07 ·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Proyectos: metodología y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" y="1100000"/>
            <a:ext cx="8284464" cy="62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768" y="1100000"/>
            <a:ext cx="7984464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Fuente: informacion_proyecto_pulso.xlsx (938 proyectos, Año≥2010 y Estado="5. Cerrado") + ProyectosPUCPCRIS-20260721.csv fusionado por código→título exacto→título difuso→revisión manual (merge_cris.py) → 975 filas, salidas/01_projects_closed.csv.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60000"/>
            <a:ext cx="8284464" cy="500000"/>
          </a:xfrm>
          <a:prstGeom prst="roundRect">
            <a:avLst>
              <a:gd name="adj" fmla="val 10000"/>
            </a:avLst>
          </a:prstGeom>
          <a:solidFill>
            <a:srgbClr val="F7F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68" y="1760000"/>
            <a:ext cx="7984464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Embeddings sobre: title, project_type, knowledge_area, research_line_1-4, research_line, executing_unit, executing_section (campos vacíos se omiten, no se rellenan).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80000"/>
            <a:ext cx="828446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440"/>
                </a:solidFill>
                <a:latin typeface="Calibri"/>
              </a:rPr>
              <a:t>Probamos 7 modelos de embeddings (TF-IDF, jina-v5-nano, bge-m3, snowflake-arctic, MiniLM, e5-small, nomic-v2) × 4 métodos de clustering (HDBSCAN, K-Means, Gaussian Mixture, Agglomerative).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900000"/>
            <a:ext cx="8284464" cy="1550000"/>
          </a:xfrm>
          <a:prstGeom prst="roundRect">
            <a:avLst>
              <a:gd name="adj" fmla="val 6000"/>
            </a:avLst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768" y="2900000"/>
            <a:ext cx="7764464" cy="1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62454"/>
                </a:solidFill>
                <a:latin typeface="Calibri"/>
              </a:rPr>
              <a:t>MEJOR RESULTADO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062454"/>
                </a:solidFill>
                <a:latin typeface="Calibri"/>
              </a:rPr>
              <a:t>jina-v5-nano + HDBSCAN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062454"/>
                </a:solidFill>
                <a:latin typeface="Calibri"/>
              </a:rPr>
              <a:t>9 clusters · silhouette 0.270 · 60.1% sin asignar (ruido)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62454"/>
                </a:solidFill>
                <a:latin typeface="Calibri"/>
              </a:rPr>
              <a:t>El único de los 3 experimentos donde un solo modelo gana los 4 métodos de clustering a la vez.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08 ·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Proyectos: explora los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pic>
        <p:nvPicPr>
          <p:cNvPr id="9" name="Picture 8" descr="pca_pro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30000"/>
            <a:ext cx="4369230" cy="35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18998" y="1130000"/>
            <a:ext cx="3695234" cy="145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8998" y="1130000"/>
            <a:ext cx="3395234" cy="1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A2440"/>
                </a:solidFill>
                <a:latin typeface="Calibri"/>
              </a:rPr>
              <a:t>Cada punto es un proyecto (975), proyectado a 2D. Gris = sin cluster asignado (ruido). Versión interactiva con detalle al pasar el cursor: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8998" y="2760000"/>
            <a:ext cx="3695234" cy="700000"/>
          </a:xfrm>
          <a:prstGeom prst="roundRect">
            <a:avLst>
              <a:gd name="adj" fmla="val 12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998" y="2760000"/>
            <a:ext cx="3395234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BCF07"/>
                </a:solidFill>
                <a:latin typeface="Calibri"/>
              </a:rPr>
              <a:t>🔗 Explorador interactivo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FFFFFF"/>
                </a:solidFill>
                <a:latin typeface="Calibri"/>
                <a:hlinkClick r:id="rId4"/>
              </a:rPr>
              <a:t>https://claude.ai/code/artifact/361bea18-1f1f-4dd6-9ac3-3e73ec51db49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09 · PUBLICACIONES — CATÁLOGO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Publicaciones (catálogo completo): metodología y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" y="1100000"/>
            <a:ext cx="8284464" cy="62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768" y="1100000"/>
            <a:ext cx="7984464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Fuente: Pubs_SCOPUS + Pubs_WoS + Pubs_RI (24,616 filas), deduplicadas por DOI o título+año → 13,995 publicaciones únicas, salidas/03_publications_master.csv. NO restringido a proyectos — solo ~2.7% conecta a un proyecto cerrado por DOI.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60000"/>
            <a:ext cx="8284464" cy="500000"/>
          </a:xfrm>
          <a:prstGeom prst="roundRect">
            <a:avLst>
              <a:gd name="adj" fmla="val 10000"/>
            </a:avLst>
          </a:prstGeom>
          <a:solidFill>
            <a:srgbClr val="F7F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68" y="1760000"/>
            <a:ext cx="7984464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Embeddings sobre: title, abstract, keywords, journal. Abstract real: 73.2% (10,245/13,995) — corregido un bug donde el "abstract" de Scopus era solo un enlace, no texto; completado con backfill de OpenAlex.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80000"/>
            <a:ext cx="828446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440"/>
                </a:solidFill>
                <a:latin typeface="Calibri"/>
              </a:rPr>
              <a:t>Mismos 7 modelos × 4 métodos de clustering que en proyectos.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900000"/>
            <a:ext cx="8284464" cy="1550000"/>
          </a:xfrm>
          <a:prstGeom prst="roundRect">
            <a:avLst>
              <a:gd name="adj" fmla="val 6000"/>
            </a:avLst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768" y="2900000"/>
            <a:ext cx="7764464" cy="1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62454"/>
                </a:solidFill>
                <a:latin typeface="Calibri"/>
              </a:rPr>
              <a:t>MEJOR RESULTADO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062454"/>
                </a:solidFill>
                <a:latin typeface="Calibri"/>
              </a:rPr>
              <a:t>MiniLM-L12 + HDBSCAN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062454"/>
                </a:solidFill>
                <a:latin typeface="Calibri"/>
              </a:rPr>
              <a:t>2 clusters · silhouette 0.287 · 72.4% sin asignar (ruido)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62454"/>
                </a:solidFill>
                <a:latin typeface="Calibri"/>
              </a:rPr>
              <a:t>Silhouette más alto, pero solo 2 grupos muy amplios — separación gruesa, no segmentación temática fina.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10 · PUBLICACIONES — CATÁLOGO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Publicaciones (catálogo completo): explora los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pic>
        <p:nvPicPr>
          <p:cNvPr id="9" name="Picture 8" descr="pca_pub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30000"/>
            <a:ext cx="4369230" cy="35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18998" y="1130000"/>
            <a:ext cx="3695234" cy="145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8998" y="1130000"/>
            <a:ext cx="3395234" cy="1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A2440"/>
                </a:solidFill>
                <a:latin typeface="Calibri"/>
              </a:rPr>
              <a:t>Cada punto es una publicación (13,995), proyectada a 2D. Gris = sin cluster asignado (ruido). Versión interactiva con detalle al pasar el cursor: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8998" y="2760000"/>
            <a:ext cx="3695234" cy="700000"/>
          </a:xfrm>
          <a:prstGeom prst="roundRect">
            <a:avLst>
              <a:gd name="adj" fmla="val 12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998" y="2760000"/>
            <a:ext cx="3395234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BCF07"/>
                </a:solidFill>
                <a:latin typeface="Calibri"/>
              </a:rPr>
              <a:t>🔗 Explorador interactivo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FFFFFF"/>
                </a:solidFill>
                <a:latin typeface="Calibri"/>
                <a:hlinkClick r:id="rId4"/>
              </a:rPr>
              <a:t>https://claude.ai/code/artifact/361bea18-1f1f-4dd6-9ac3-3e73ec51db49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11 · PUBLICACIONES — LIGADAS A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Publicaciones ligadas a proyectos: metodología y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" y="1100000"/>
            <a:ext cx="8284464" cy="62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768" y="1100000"/>
            <a:ext cx="7984464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Fuente: 07_project_publication_ground_truth.csv — los 1,192 resultados declarados por los 361 proyectos con ground truth confirmado (no solo los 376/386 que cruzan por DOI al catálogo). 850/1,192 (71.3%) con al menos un campo de texto usable.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760000"/>
            <a:ext cx="8284464" cy="500000"/>
          </a:xfrm>
          <a:prstGeom prst="roundRect">
            <a:avLst>
              <a:gd name="adj" fmla="val 10000"/>
            </a:avLst>
          </a:prstGeom>
          <a:solidFill>
            <a:srgbClr val="F7F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68" y="1760000"/>
            <a:ext cx="7984464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1A2440"/>
                </a:solidFill>
                <a:latin typeface="Calibri"/>
              </a:rPr>
              <a:t>Embeddings sobre: title, abstract, keywords, journal. Filas cruzadas al catálogo reusan su texto ya depurado; el resto cae a las columnas propias del ground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80000"/>
            <a:ext cx="8284464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440"/>
                </a:solidFill>
                <a:latin typeface="Calibri"/>
              </a:rPr>
              <a:t>Mismos 7 modelos × 4 métodos de clustering que en los otros dos experimentos.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900000"/>
            <a:ext cx="8284464" cy="1550000"/>
          </a:xfrm>
          <a:prstGeom prst="roundRect">
            <a:avLst>
              <a:gd name="adj" fmla="val 6000"/>
            </a:avLst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768" y="2900000"/>
            <a:ext cx="7764464" cy="1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62454"/>
                </a:solidFill>
                <a:latin typeface="Calibri"/>
              </a:rPr>
              <a:t>MEJOR RESULTADO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062454"/>
                </a:solidFill>
                <a:latin typeface="Calibri"/>
              </a:rPr>
              <a:t>jina-v5-nano + HDBSCAN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062454"/>
                </a:solidFill>
                <a:latin typeface="Calibri"/>
              </a:rPr>
              <a:t>15 clusters · silhouette 0.363 · 66.4% sin asignar (ruido)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62454"/>
                </a:solidFill>
                <a:latin typeface="Calibri"/>
              </a:rPr>
              <a:t>Silhouette más alto de los 3 experimentos — probable efecto de la muestra más chica y homogénea (850 filas); tomar como indicativo.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C52FF"/>
                </a:solidFill>
                <a:latin typeface="Calibri"/>
              </a:rPr>
              <a:t>12 · PUBLICACIONES — LIGADAS A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12064"/>
            <a:ext cx="8321040" cy="4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62454"/>
                </a:solidFill>
                <a:latin typeface="Calibri"/>
              </a:rPr>
              <a:t>Publicaciones ligadas: explora los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1005840"/>
            <a:ext cx="749808" cy="29261"/>
          </a:xfrm>
          <a:prstGeom prst="rect">
            <a:avLst/>
          </a:prstGeom>
          <a:solidFill>
            <a:srgbClr val="CBCF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48280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45454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754880"/>
            <a:ext cx="685800" cy="279806"/>
          </a:xfrm>
          <a:prstGeom prst="rect">
            <a:avLst/>
          </a:prstGeom>
        </p:spPr>
      </p:pic>
      <p:pic>
        <p:nvPicPr>
          <p:cNvPr id="9" name="Picture 8" descr="pca_publications_lin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30000"/>
            <a:ext cx="4369230" cy="35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18998" y="1130000"/>
            <a:ext cx="3695234" cy="145000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8998" y="1130000"/>
            <a:ext cx="3395234" cy="1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A2440"/>
                </a:solidFill>
                <a:latin typeface="Calibri"/>
              </a:rPr>
              <a:t>Cada punto es un resultado declarado (850 de 1,192), proyectado a 2D. Gris = sin cluster asignado (ruido). Versión interactiva con detalle al pasar el cursor: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8998" y="2760000"/>
            <a:ext cx="3695234" cy="700000"/>
          </a:xfrm>
          <a:prstGeom prst="roundRect">
            <a:avLst>
              <a:gd name="adj" fmla="val 12000"/>
            </a:avLst>
          </a:prstGeom>
          <a:solidFill>
            <a:srgbClr val="062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998" y="2760000"/>
            <a:ext cx="3395234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BCF07"/>
                </a:solidFill>
                <a:latin typeface="Calibri"/>
              </a:rPr>
              <a:t>🔗 Explorador interactivo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FFFFFF"/>
                </a:solidFill>
                <a:latin typeface="Calibri"/>
                <a:hlinkClick r:id="rId4"/>
              </a:rPr>
              <a:t>https://claude.ai/code/artifact/361bea18-1f1f-4dd6-9ac3-3e73ec51db49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2026-07-21T00:41:47Z</dcterms:created>
  <dc:creator>PptxGenJS</dc:creator>
</cp:coreProperties>
</file>