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  <p:sldId id="265" r:id="rId10"/>
    <p:sldId id="266" r:id="rId11"/>
    <p:sldId id="263" r:id="rId12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4" roundtripDataSignature="AMtx7mizYvx6+yubJB91f7qCJlqY9p487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45A4B80-37F1-4B6B-AD5E-9F7A083A073E}">
  <a:tblStyle styleId="{245A4B80-37F1-4B6B-AD5E-9F7A083A073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45DF982-1AF4-4FB0-8324-527E0B633D99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2" d="100"/>
          <a:sy n="132" d="100"/>
        </p:scale>
        <p:origin x="132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" name="Google Shape;2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" name="Google Shape;4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f57aa7305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1" name="Google Shape;81;g3f57aa7305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f57aa7305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f580f3e264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f580f3e264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g3f580f3e264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f3b9e97853_3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g3f3b9e97853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f3b9e97853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f3b9e97853_4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g3f3b9e97853_4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2454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4489704"/>
            <a:ext cx="9144000" cy="41148"/>
          </a:xfrm>
          <a:prstGeom prst="rect">
            <a:avLst/>
          </a:prstGeom>
          <a:solidFill>
            <a:srgbClr val="CBCF0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" name="Google Shape;17;p1" descr="logo_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81928" y="512064"/>
            <a:ext cx="2258568" cy="921715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"/>
          <p:cNvSpPr/>
          <p:nvPr/>
        </p:nvSpPr>
        <p:spPr>
          <a:xfrm>
            <a:off x="612648" y="1444752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BCF07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CBCF07"/>
                </a:solidFill>
                <a:latin typeface="Calibri"/>
                <a:ea typeface="Calibri"/>
                <a:cs typeface="Calibri"/>
                <a:sym typeface="Calibri"/>
              </a:rPr>
              <a:t>Enriquecimiento y hallazgos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12648" y="1755648"/>
            <a:ext cx="78638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Calibri"/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Proyecto Libro Blanco</a:t>
            </a:r>
            <a:endParaRPr sz="5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237744" y="4828032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D3E5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CAD3E5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3444" cy="5143500"/>
          </a:xfrm>
          <a:prstGeom prst="rect">
            <a:avLst/>
          </a:prstGeom>
          <a:solidFill>
            <a:srgbClr val="062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74320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8C52FF"/>
                </a:solidFill>
                <a:latin typeface="Calibri"/>
              </a:rPr>
              <a:t>00 · FLUJO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2064"/>
            <a:ext cx="8321040" cy="4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062454"/>
                </a:solidFill>
                <a:latin typeface="Calibri"/>
              </a:rPr>
              <a:t>De la </a:t>
            </a:r>
            <a:r>
              <a:rPr sz="2000" b="1" dirty="0" err="1">
                <a:solidFill>
                  <a:srgbClr val="062454"/>
                </a:solidFill>
                <a:latin typeface="Calibri"/>
              </a:rPr>
              <a:t>fuente</a:t>
            </a:r>
            <a:r>
              <a:rPr sz="2000" b="1" dirty="0">
                <a:solidFill>
                  <a:srgbClr val="062454"/>
                </a:solidFill>
                <a:latin typeface="Calibri"/>
              </a:rPr>
              <a:t> al </a:t>
            </a:r>
            <a:r>
              <a:rPr sz="2000" b="1" dirty="0" err="1">
                <a:solidFill>
                  <a:srgbClr val="062454"/>
                </a:solidFill>
                <a:latin typeface="Calibri"/>
              </a:rPr>
              <a:t>hallazgo</a:t>
            </a:r>
            <a:r>
              <a:rPr sz="2000" b="1" dirty="0">
                <a:solidFill>
                  <a:srgbClr val="062454"/>
                </a:solidFill>
                <a:latin typeface="Calibri"/>
              </a:rPr>
              <a:t>: el </a:t>
            </a:r>
            <a:r>
              <a:rPr sz="2000" b="1" dirty="0" err="1">
                <a:solidFill>
                  <a:srgbClr val="062454"/>
                </a:solidFill>
                <a:latin typeface="Calibri"/>
              </a:rPr>
              <a:t>flujo</a:t>
            </a:r>
            <a:r>
              <a:rPr sz="2000" b="1" dirty="0">
                <a:solidFill>
                  <a:srgbClr val="062454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062454"/>
                </a:solidFill>
                <a:latin typeface="Calibri"/>
              </a:rPr>
              <a:t>completo</a:t>
            </a:r>
            <a:endParaRPr sz="2000" b="1" dirty="0">
              <a:solidFill>
                <a:srgbClr val="062454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29768" y="1005840"/>
            <a:ext cx="749808" cy="29261"/>
          </a:xfrm>
          <a:prstGeom prst="rect">
            <a:avLst/>
          </a:prstGeom>
          <a:solidFill>
            <a:srgbClr val="CBCF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7744" y="482803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45454"/>
                </a:solidFill>
                <a:latin typeface="Calibri"/>
              </a:rPr>
              <a:t>2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4754880"/>
            <a:ext cx="685800" cy="27980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31800" y="1498600"/>
            <a:ext cx="2108200" cy="1117600"/>
          </a:xfrm>
          <a:prstGeom prst="roundRect">
            <a:avLst>
              <a:gd name="adj" fmla="val 8000"/>
            </a:avLst>
          </a:prstGeom>
          <a:solidFill>
            <a:srgbClr val="062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1500" y="1722340"/>
            <a:ext cx="1828800" cy="67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dirty="0">
                <a:solidFill>
                  <a:srgbClr val="D7DEEC"/>
                </a:solidFill>
                <a:latin typeface="Calibri"/>
              </a:rPr>
              <a:t>PASO 1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dirty="0">
                <a:solidFill>
                  <a:srgbClr val="CBCF07"/>
                </a:solidFill>
                <a:latin typeface="Calibri"/>
              </a:rPr>
              <a:t>Fuente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50" b="0" dirty="0">
                <a:solidFill>
                  <a:srgbClr val="D7DEEC"/>
                </a:solidFill>
                <a:latin typeface="Calibri"/>
              </a:rPr>
              <a:t>Excel </a:t>
            </a:r>
            <a:r>
              <a:rPr sz="850" b="0" dirty="0" err="1">
                <a:solidFill>
                  <a:srgbClr val="D7DEEC"/>
                </a:solidFill>
                <a:latin typeface="Calibri"/>
              </a:rPr>
              <a:t>institucional</a:t>
            </a:r>
            <a:r>
              <a:rPr sz="850" b="0" dirty="0">
                <a:solidFill>
                  <a:srgbClr val="D7DEEC"/>
                </a:solidFill>
                <a:latin typeface="Calibri"/>
              </a:rPr>
              <a:t> de </a:t>
            </a:r>
            <a:r>
              <a:rPr sz="850" b="0" dirty="0" err="1">
                <a:solidFill>
                  <a:srgbClr val="D7DEEC"/>
                </a:solidFill>
                <a:latin typeface="Calibri"/>
              </a:rPr>
              <a:t>proyectos</a:t>
            </a:r>
            <a:r>
              <a:rPr lang="es-PE" sz="850" dirty="0">
                <a:solidFill>
                  <a:srgbClr val="D7DEEC"/>
                </a:solidFill>
                <a:latin typeface="Calibri"/>
              </a:rPr>
              <a:t>: </a:t>
            </a:r>
            <a:r>
              <a:rPr sz="850" b="0" dirty="0">
                <a:solidFill>
                  <a:srgbClr val="D7DEEC"/>
                </a:solidFill>
                <a:latin typeface="Calibri"/>
              </a:rPr>
              <a:t>1928 </a:t>
            </a:r>
            <a:r>
              <a:rPr sz="850" b="0" dirty="0" err="1">
                <a:solidFill>
                  <a:srgbClr val="D7DEEC"/>
                </a:solidFill>
                <a:latin typeface="Calibri"/>
              </a:rPr>
              <a:t>registros</a:t>
            </a:r>
            <a:endParaRPr sz="850" b="0" dirty="0">
              <a:solidFill>
                <a:srgbClr val="D7DEEC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517900" y="1498600"/>
            <a:ext cx="2108200" cy="1117600"/>
          </a:xfrm>
          <a:prstGeom prst="roundRect">
            <a:avLst>
              <a:gd name="adj" fmla="val 8000"/>
            </a:avLst>
          </a:prstGeom>
          <a:solidFill>
            <a:srgbClr val="062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0" y="1574800"/>
            <a:ext cx="1828800" cy="965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D7DEEC"/>
                </a:solidFill>
                <a:latin typeface="Calibri"/>
              </a:rPr>
              <a:t>PASO 2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CBCF07"/>
                </a:solidFill>
                <a:latin typeface="Calibri"/>
              </a:rPr>
              <a:t>Filtro de universo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50" b="0">
                <a:solidFill>
                  <a:srgbClr val="D7DEEC"/>
                </a:solidFill>
                <a:latin typeface="Calibri"/>
              </a:rPr>
              <a:t>Cerrados desde 2010 → 938 proyectos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4000" y="1498600"/>
            <a:ext cx="2108200" cy="1117600"/>
          </a:xfrm>
          <a:prstGeom prst="roundRect">
            <a:avLst>
              <a:gd name="adj" fmla="val 8000"/>
            </a:avLst>
          </a:prstGeom>
          <a:solidFill>
            <a:srgbClr val="062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43700" y="1574800"/>
            <a:ext cx="1828800" cy="965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D7DEEC"/>
                </a:solidFill>
                <a:latin typeface="Calibri"/>
              </a:rPr>
              <a:t>PASO 3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CBCF07"/>
                </a:solidFill>
                <a:latin typeface="Calibri"/>
              </a:rPr>
              <a:t>Enriquecimiento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50" b="0">
                <a:solidFill>
                  <a:srgbClr val="D7DEEC"/>
                </a:solidFill>
                <a:latin typeface="Calibri"/>
              </a:rPr>
              <a:t>+22 columnas (OpenAlex + resúmenes) → 1,192 filas tipo publicación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800" y="2946400"/>
            <a:ext cx="2108200" cy="1117600"/>
          </a:xfrm>
          <a:prstGeom prst="roundRect">
            <a:avLst>
              <a:gd name="adj" fmla="val 8000"/>
            </a:avLst>
          </a:prstGeom>
          <a:solidFill>
            <a:srgbClr val="062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1500" y="3022600"/>
            <a:ext cx="1828800" cy="965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D7DEEC"/>
                </a:solidFill>
                <a:latin typeface="Calibri"/>
              </a:rPr>
              <a:t>PASO 4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CBCF07"/>
                </a:solidFill>
                <a:latin typeface="Calibri"/>
              </a:rPr>
              <a:t>Embeddings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50" b="0">
                <a:solidFill>
                  <a:srgbClr val="D7DEEC"/>
                </a:solidFill>
                <a:latin typeface="Calibri"/>
              </a:rPr>
              <a:t>2 pistas: proyectos (938) y publicaciones (13,995) — 7 modelos multilingües comparados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17900" y="2946400"/>
            <a:ext cx="2108200" cy="1117600"/>
          </a:xfrm>
          <a:prstGeom prst="roundRect">
            <a:avLst>
              <a:gd name="adj" fmla="val 8000"/>
            </a:avLst>
          </a:prstGeom>
          <a:solidFill>
            <a:srgbClr val="062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0" y="3022600"/>
            <a:ext cx="1828800" cy="965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D7DEEC"/>
                </a:solidFill>
                <a:latin typeface="Calibri"/>
              </a:rPr>
              <a:t>PASO 5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CBCF07"/>
                </a:solidFill>
                <a:latin typeface="Calibri"/>
              </a:rPr>
              <a:t>Clustering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50" b="0">
                <a:solidFill>
                  <a:srgbClr val="D7DEEC"/>
                </a:solidFill>
                <a:latin typeface="Calibri"/>
              </a:rPr>
              <a:t>Vectores → grupos: 4 métodos comparados en ambas pistas</a:t>
            </a:r>
          </a:p>
        </p:txBody>
      </p:sp>
      <p:sp>
        <p:nvSpPr>
          <p:cNvPr id="22" name="Chevron 21"/>
          <p:cNvSpPr/>
          <p:nvPr/>
        </p:nvSpPr>
        <p:spPr>
          <a:xfrm>
            <a:off x="2946400" y="1930400"/>
            <a:ext cx="170000" cy="260000"/>
          </a:xfrm>
          <a:prstGeom prst="chevron">
            <a:avLst/>
          </a:prstGeom>
          <a:solidFill>
            <a:srgbClr val="AEB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hevron 22"/>
          <p:cNvSpPr/>
          <p:nvPr/>
        </p:nvSpPr>
        <p:spPr>
          <a:xfrm>
            <a:off x="6032500" y="1930400"/>
            <a:ext cx="170000" cy="260000"/>
          </a:xfrm>
          <a:prstGeom prst="chevron">
            <a:avLst/>
          </a:prstGeom>
          <a:solidFill>
            <a:srgbClr val="AEB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Chevron 23"/>
          <p:cNvSpPr/>
          <p:nvPr/>
        </p:nvSpPr>
        <p:spPr>
          <a:xfrm>
            <a:off x="2946400" y="3378200"/>
            <a:ext cx="170000" cy="260000"/>
          </a:xfrm>
          <a:prstGeom prst="chevron">
            <a:avLst/>
          </a:prstGeom>
          <a:solidFill>
            <a:srgbClr val="AEB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"/>
          <p:cNvSpPr/>
          <p:nvPr/>
        </p:nvSpPr>
        <p:spPr>
          <a:xfrm>
            <a:off x="0" y="0"/>
            <a:ext cx="123444" cy="5143500"/>
          </a:xfrm>
          <a:prstGeom prst="rect">
            <a:avLst/>
          </a:prstGeom>
          <a:solidFill>
            <a:srgbClr val="06245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411480" y="274320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52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8C52FF"/>
                </a:solidFill>
                <a:latin typeface="Calibri"/>
                <a:ea typeface="Calibri"/>
                <a:cs typeface="Calibri"/>
                <a:sym typeface="Calibri"/>
              </a:rPr>
              <a:t>01 · UNIVERSO Y FILTROS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411480" y="512064"/>
            <a:ext cx="8321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2454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62454"/>
                </a:solidFill>
                <a:latin typeface="Calibri"/>
                <a:ea typeface="Calibri"/>
                <a:cs typeface="Calibri"/>
                <a:sym typeface="Calibri"/>
              </a:rPr>
              <a:t>Del universo a las publicaciones enriquecidas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29768" y="1005840"/>
            <a:ext cx="749808" cy="29261"/>
          </a:xfrm>
          <a:prstGeom prst="rect">
            <a:avLst/>
          </a:prstGeom>
          <a:solidFill>
            <a:srgbClr val="CBCF0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429768" y="1298448"/>
            <a:ext cx="5257800" cy="658368"/>
          </a:xfrm>
          <a:prstGeom prst="roundRect">
            <a:avLst>
              <a:gd name="adj" fmla="val 8333"/>
            </a:avLst>
          </a:prstGeom>
          <a:solidFill>
            <a:srgbClr val="06245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66928" y="1298448"/>
            <a:ext cx="498348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D7DEEC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D7DEEC"/>
                </a:solidFill>
                <a:latin typeface="Calibri"/>
                <a:ea typeface="Calibri"/>
                <a:cs typeface="Calibri"/>
                <a:sym typeface="Calibri"/>
              </a:rPr>
              <a:t>Todos los proyectos (Excel fuente)</a:t>
            </a:r>
            <a:br>
              <a:rPr lang="en-US" sz="900" b="0" i="0" u="none" strike="noStrike" cap="none">
                <a:solidFill>
                  <a:srgbClr val="D7DEEC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CBCF07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CBCF07"/>
                </a:solidFill>
                <a:latin typeface="Calibri"/>
                <a:ea typeface="Calibri"/>
                <a:cs typeface="Calibri"/>
                <a:sym typeface="Calibri"/>
              </a:rPr>
              <a:t>1,928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429768" y="2103120"/>
            <a:ext cx="4754880" cy="658368"/>
          </a:xfrm>
          <a:prstGeom prst="roundRect">
            <a:avLst>
              <a:gd name="adj" fmla="val 8333"/>
            </a:avLst>
          </a:prstGeom>
          <a:solidFill>
            <a:srgbClr val="06245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66928" y="2103120"/>
            <a:ext cx="44805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D7DEEC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D7DEEC"/>
                </a:solidFill>
                <a:latin typeface="Calibri"/>
                <a:ea typeface="Calibri"/>
                <a:cs typeface="Calibri"/>
                <a:sym typeface="Calibri"/>
              </a:rPr>
              <a:t>Año ≥ 2010  y  Estado = “5. Cerrado”   ← el universo</a:t>
            </a:r>
            <a:br>
              <a:rPr lang="en-US" sz="900" b="0" i="0" u="none" strike="noStrike" cap="none">
                <a:solidFill>
                  <a:srgbClr val="D7DEEC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CBCF07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CBCF07"/>
                </a:solidFill>
                <a:latin typeface="Calibri"/>
                <a:ea typeface="Calibri"/>
                <a:cs typeface="Calibri"/>
                <a:sym typeface="Calibri"/>
              </a:rPr>
              <a:t>938  proyectos cerrados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429768" y="2907792"/>
            <a:ext cx="4251960" cy="658368"/>
          </a:xfrm>
          <a:prstGeom prst="roundRect">
            <a:avLst>
              <a:gd name="adj" fmla="val 8333"/>
            </a:avLst>
          </a:prstGeom>
          <a:solidFill>
            <a:srgbClr val="06245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566928" y="2907792"/>
            <a:ext cx="39776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D7DEEC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D7DEEC"/>
                </a:solidFill>
                <a:latin typeface="Calibri"/>
                <a:ea typeface="Calibri"/>
                <a:cs typeface="Calibri"/>
                <a:sym typeface="Calibri"/>
              </a:rPr>
              <a:t>Unidos a resultados declarados (PROY_RESULTADOS · dataset 06)</a:t>
            </a:r>
            <a:br>
              <a:rPr lang="en-US" sz="900" b="0" i="0" u="none" strike="noStrike" cap="none">
                <a:solidFill>
                  <a:srgbClr val="D7DEEC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CBCF07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CBCF07"/>
                </a:solidFill>
                <a:latin typeface="Calibri"/>
                <a:ea typeface="Calibri"/>
                <a:cs typeface="Calibri"/>
                <a:sym typeface="Calibri"/>
              </a:rPr>
              <a:t>361 proy. · 2,908 filas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429768" y="3712464"/>
            <a:ext cx="3749040" cy="658368"/>
          </a:xfrm>
          <a:prstGeom prst="roundRect">
            <a:avLst>
              <a:gd name="adj" fmla="val 8333"/>
            </a:avLst>
          </a:prstGeom>
          <a:solidFill>
            <a:srgbClr val="CBCF0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566928" y="3712464"/>
            <a:ext cx="347472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062454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062454"/>
                </a:solidFill>
                <a:latin typeface="Calibri"/>
                <a:ea typeface="Calibri"/>
                <a:cs typeface="Calibri"/>
                <a:sym typeface="Calibri"/>
              </a:rPr>
              <a:t>Solo resultados tipo publicación (dataset 07)</a:t>
            </a:r>
            <a:br>
              <a:rPr lang="en-US" sz="900" b="0" i="0" u="none" strike="noStrike" cap="none">
                <a:solidFill>
                  <a:srgbClr val="062454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062454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062454"/>
                </a:solidFill>
                <a:latin typeface="Calibri"/>
                <a:ea typeface="Calibri"/>
                <a:cs typeface="Calibri"/>
                <a:sym typeface="Calibri"/>
              </a:rPr>
              <a:t>335 proy. · 1,192 filas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5897880" y="1298448"/>
            <a:ext cx="2880360" cy="1417320"/>
          </a:xfrm>
          <a:prstGeom prst="roundRect">
            <a:avLst>
              <a:gd name="adj" fmla="val 3871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6062472" y="1389888"/>
            <a:ext cx="255117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245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062454"/>
                </a:solidFill>
                <a:latin typeface="Calibri"/>
                <a:ea typeface="Calibri"/>
                <a:cs typeface="Calibri"/>
                <a:sym typeface="Calibri"/>
              </a:rPr>
              <a:t>Ventana temporal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6062472" y="1645920"/>
            <a:ext cx="2551176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440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Universo = proyectos cerrados desde 2010 (sin tope superior). </a:t>
            </a:r>
            <a:endParaRPr sz="950" b="0" i="0" u="none" strike="noStrike" cap="none">
              <a:solidFill>
                <a:srgbClr val="1A24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440"/>
              </a:buClr>
              <a:buSzPts val="950"/>
              <a:buFont typeface="Calibri"/>
              <a:buNone/>
            </a:pPr>
            <a:endParaRPr sz="950">
              <a:solidFill>
                <a:srgbClr val="1A24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440"/>
              </a:buClr>
              <a:buSzPts val="950"/>
              <a:buFont typeface="Calibri"/>
              <a:buNone/>
            </a:pPr>
            <a:r>
              <a:rPr lang="en-US" sz="95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En los datos: 2010–2023 </a:t>
            </a:r>
            <a:r>
              <a:rPr lang="en-US" sz="950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95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aún no hay cerrados en 2024/2025</a:t>
            </a:r>
            <a:r>
              <a:rPr lang="en-US" sz="950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237744" y="4828032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45454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54545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3" name="Google Shape;43;p2" descr="logo_navy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47888" y="4754880"/>
            <a:ext cx="685800" cy="2798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"/>
          <p:cNvSpPr/>
          <p:nvPr/>
        </p:nvSpPr>
        <p:spPr>
          <a:xfrm>
            <a:off x="0" y="0"/>
            <a:ext cx="123444" cy="5143500"/>
          </a:xfrm>
          <a:prstGeom prst="rect">
            <a:avLst/>
          </a:prstGeom>
          <a:solidFill>
            <a:srgbClr val="06245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3"/>
          <p:cNvSpPr/>
          <p:nvPr/>
        </p:nvSpPr>
        <p:spPr>
          <a:xfrm>
            <a:off x="411480" y="274320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52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8C52FF"/>
                </a:solidFill>
                <a:latin typeface="Calibri"/>
                <a:ea typeface="Calibri"/>
                <a:cs typeface="Calibri"/>
                <a:sym typeface="Calibri"/>
              </a:rPr>
              <a:t>02 · CON QUÉ ENRIQUECIMOS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411480" y="512064"/>
            <a:ext cx="8321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2454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62454"/>
                </a:solidFill>
                <a:latin typeface="Calibri"/>
                <a:ea typeface="Calibri"/>
                <a:cs typeface="Calibri"/>
                <a:sym typeface="Calibri"/>
              </a:rPr>
              <a:t>22 columnas nuevas + corpus de apoyo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429768" y="1005840"/>
            <a:ext cx="749808" cy="29261"/>
          </a:xfrm>
          <a:prstGeom prst="rect">
            <a:avLst/>
          </a:prstGeom>
          <a:solidFill>
            <a:srgbClr val="CBCF0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3"/>
          <p:cNvSpPr/>
          <p:nvPr/>
        </p:nvSpPr>
        <p:spPr>
          <a:xfrm>
            <a:off x="429775" y="1176850"/>
            <a:ext cx="4114800" cy="2198700"/>
          </a:xfrm>
          <a:prstGeom prst="roundRect">
            <a:avLst>
              <a:gd name="adj" fmla="val 2703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3"/>
          <p:cNvSpPr/>
          <p:nvPr/>
        </p:nvSpPr>
        <p:spPr>
          <a:xfrm>
            <a:off x="429768" y="1176840"/>
            <a:ext cx="4114800" cy="457200"/>
          </a:xfrm>
          <a:prstGeom prst="roundRect">
            <a:avLst>
              <a:gd name="adj" fmla="val 12000"/>
            </a:avLst>
          </a:prstGeom>
          <a:solidFill>
            <a:srgbClr val="06245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3"/>
          <p:cNvSpPr/>
          <p:nvPr/>
        </p:nvSpPr>
        <p:spPr>
          <a:xfrm>
            <a:off x="429768" y="1414584"/>
            <a:ext cx="4114800" cy="219600"/>
          </a:xfrm>
          <a:prstGeom prst="rect">
            <a:avLst/>
          </a:prstGeom>
          <a:solidFill>
            <a:srgbClr val="06245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3"/>
          <p:cNvSpPr/>
          <p:nvPr/>
        </p:nvSpPr>
        <p:spPr>
          <a:xfrm>
            <a:off x="594360" y="1176840"/>
            <a:ext cx="37857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OpenAlex  </a:t>
            </a:r>
            <a:r>
              <a:rPr lang="en-US" sz="950" b="0" i="0" u="none" strike="noStrike" cap="none">
                <a:solidFill>
                  <a:srgbClr val="CBCF07"/>
                </a:solidFill>
                <a:latin typeface="Calibri"/>
                <a:ea typeface="Calibri"/>
                <a:cs typeface="Calibri"/>
                <a:sym typeface="Calibri"/>
              </a:rPr>
              <a:t>12 columnas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594360" y="1743768"/>
            <a:ext cx="38040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127000" marR="0" lvl="0" indent="-127000" algn="l" rtl="0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A2440"/>
              </a:buClr>
              <a:buSzPts val="930"/>
              <a:buFont typeface="Calibri"/>
              <a:buChar char="•"/>
            </a:pPr>
            <a:r>
              <a:rPr lang="en-US" sz="93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work_id </a:t>
            </a:r>
            <a:endParaRPr sz="930">
              <a:solidFill>
                <a:srgbClr val="1A24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0" marR="0" lvl="0" indent="-127000" algn="l" rtl="0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A2440"/>
              </a:buClr>
              <a:buSzPts val="930"/>
              <a:buFont typeface="Calibri"/>
              <a:buChar char="•"/>
            </a:pPr>
            <a:r>
              <a:rPr lang="en-US" sz="93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DOI </a:t>
            </a:r>
            <a:endParaRPr sz="930">
              <a:solidFill>
                <a:srgbClr val="1A24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0" marR="0" lvl="0" indent="-127000" algn="l" rtl="0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A2440"/>
              </a:buClr>
              <a:buSzPts val="930"/>
              <a:buFont typeface="Calibri"/>
              <a:buChar char="•"/>
            </a:pPr>
            <a:r>
              <a:rPr lang="en-US" sz="930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n-US" sz="93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ño de publicación</a:t>
            </a:r>
            <a:endParaRPr sz="9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0" marR="0" lvl="0" indent="-127000" algn="l" rtl="0">
              <a:lnSpc>
                <a:spcPct val="98000"/>
              </a:lnSpc>
              <a:spcBef>
                <a:spcPts val="200"/>
              </a:spcBef>
              <a:spcAft>
                <a:spcPts val="0"/>
              </a:spcAft>
              <a:buClr>
                <a:srgbClr val="1A2440"/>
              </a:buClr>
              <a:buSzPts val="930"/>
              <a:buFont typeface="Calibri"/>
              <a:buChar char="•"/>
            </a:pPr>
            <a:r>
              <a:rPr lang="en-US" sz="93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Open Access: is_oa, status, url</a:t>
            </a:r>
            <a:endParaRPr sz="9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0" marR="0" lvl="0" indent="-127000" algn="l" rtl="0">
              <a:lnSpc>
                <a:spcPct val="98000"/>
              </a:lnSpc>
              <a:spcBef>
                <a:spcPts val="200"/>
              </a:spcBef>
              <a:spcAft>
                <a:spcPts val="0"/>
              </a:spcAft>
              <a:buClr>
                <a:srgbClr val="1A2440"/>
              </a:buClr>
              <a:buSzPts val="930"/>
              <a:buFont typeface="Calibri"/>
              <a:buChar char="•"/>
            </a:pPr>
            <a:r>
              <a:rPr lang="en-US" sz="93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nº de citas</a:t>
            </a:r>
            <a:endParaRPr sz="930">
              <a:solidFill>
                <a:srgbClr val="1A244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0" marR="0" lvl="0" indent="-127000" algn="l" rtl="0">
              <a:lnSpc>
                <a:spcPct val="98000"/>
              </a:lnSpc>
              <a:spcBef>
                <a:spcPts val="200"/>
              </a:spcBef>
              <a:spcAft>
                <a:spcPts val="0"/>
              </a:spcAft>
              <a:buClr>
                <a:srgbClr val="1A2440"/>
              </a:buClr>
              <a:buSzPts val="930"/>
              <a:buFont typeface="Calibri"/>
              <a:buChar char="•"/>
            </a:pPr>
            <a:r>
              <a:rPr lang="en-US" sz="930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lang="en-US" sz="93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evista / venu</a:t>
            </a:r>
            <a:r>
              <a:rPr lang="en-US" sz="930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endParaRPr sz="9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0" marR="0" lvl="0" indent="-127000" algn="l" rtl="0">
              <a:lnSpc>
                <a:spcPct val="98000"/>
              </a:lnSpc>
              <a:spcBef>
                <a:spcPts val="200"/>
              </a:spcBef>
              <a:spcAft>
                <a:spcPts val="0"/>
              </a:spcAft>
              <a:buClr>
                <a:srgbClr val="1A2440"/>
              </a:buClr>
              <a:buSzPts val="930"/>
              <a:buFont typeface="Calibri"/>
              <a:buChar char="•"/>
            </a:pPr>
            <a:r>
              <a:rPr lang="en-US" sz="930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n-US" sz="93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utores</a:t>
            </a:r>
            <a:endParaRPr sz="9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0" marR="0" lvl="0" indent="-127000" algn="l" rtl="0">
              <a:lnSpc>
                <a:spcPct val="98000"/>
              </a:lnSpc>
              <a:spcBef>
                <a:spcPts val="200"/>
              </a:spcBef>
              <a:spcAft>
                <a:spcPts val="0"/>
              </a:spcAft>
              <a:buClr>
                <a:srgbClr val="1A2440"/>
              </a:buClr>
              <a:buSzPts val="930"/>
              <a:buFont typeface="Calibri"/>
              <a:buChar char="•"/>
            </a:pPr>
            <a:r>
              <a:rPr lang="en-US" sz="930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lang="en-US" sz="93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nstituciones: nombre y país</a:t>
            </a:r>
            <a:endParaRPr sz="9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0" marR="0" lvl="0" indent="-127000" algn="l" rtl="0">
              <a:lnSpc>
                <a:spcPct val="98000"/>
              </a:lnSpc>
              <a:spcBef>
                <a:spcPts val="200"/>
              </a:spcBef>
              <a:spcAft>
                <a:spcPts val="0"/>
              </a:spcAft>
              <a:buClr>
                <a:srgbClr val="1A2440"/>
              </a:buClr>
              <a:buSzPts val="930"/>
              <a:buFont typeface="Calibri"/>
              <a:buChar char="•"/>
            </a:pPr>
            <a:r>
              <a:rPr lang="en-US" sz="930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93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olumna de error de enriquecimiento</a:t>
            </a:r>
            <a:endParaRPr sz="9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4690872" y="1176840"/>
            <a:ext cx="4114800" cy="2030100"/>
          </a:xfrm>
          <a:prstGeom prst="roundRect">
            <a:avLst>
              <a:gd name="adj" fmla="val 2703"/>
            </a:avLst>
          </a:prstGeom>
          <a:solidFill>
            <a:srgbClr val="F1F4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>
            <a:off x="4690872" y="1176840"/>
            <a:ext cx="4114800" cy="457200"/>
          </a:xfrm>
          <a:prstGeom prst="roundRect">
            <a:avLst>
              <a:gd name="adj" fmla="val 12000"/>
            </a:avLst>
          </a:prstGeom>
          <a:solidFill>
            <a:srgbClr val="06245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>
            <a:off x="4690872" y="1414584"/>
            <a:ext cx="4114800" cy="219600"/>
          </a:xfrm>
          <a:prstGeom prst="rect">
            <a:avLst/>
          </a:prstGeom>
          <a:solidFill>
            <a:srgbClr val="06245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>
            <a:off x="4855464" y="1176840"/>
            <a:ext cx="37857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Resúmenes  </a:t>
            </a:r>
            <a:r>
              <a:rPr lang="en-US" sz="950" b="0" i="0" u="none" strike="noStrike" cap="none">
                <a:solidFill>
                  <a:srgbClr val="CBCF07"/>
                </a:solidFill>
                <a:latin typeface="Calibri"/>
                <a:ea typeface="Calibri"/>
                <a:cs typeface="Calibri"/>
                <a:sym typeface="Calibri"/>
              </a:rPr>
              <a:t>10 columnas 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855475" y="1743772"/>
            <a:ext cx="3804000" cy="7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127000" marR="0" lvl="0" indent="-127000" algn="l" rtl="0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A2440"/>
              </a:buClr>
              <a:buSzPts val="930"/>
              <a:buFont typeface="Calibri"/>
              <a:buChar char="•"/>
            </a:pPr>
            <a:r>
              <a:rPr lang="en-US" sz="93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resumen  +  fuente</a:t>
            </a:r>
            <a:endParaRPr sz="9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0" marR="0" lvl="0" indent="-127000" algn="l" rtl="0">
              <a:lnSpc>
                <a:spcPct val="98000"/>
              </a:lnSpc>
              <a:spcBef>
                <a:spcPts val="200"/>
              </a:spcBef>
              <a:spcAft>
                <a:spcPts val="0"/>
              </a:spcAft>
              <a:buClr>
                <a:srgbClr val="1A2440"/>
              </a:buClr>
              <a:buSzPts val="930"/>
              <a:buFont typeface="Calibri"/>
              <a:buChar char="•"/>
            </a:pPr>
            <a:r>
              <a:rPr lang="en-US" sz="93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palabras clave  +  fuente</a:t>
            </a:r>
            <a:endParaRPr sz="9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0" marR="0" lvl="0" indent="-127000" algn="l" rtl="0">
              <a:lnSpc>
                <a:spcPct val="98000"/>
              </a:lnSpc>
              <a:spcBef>
                <a:spcPts val="200"/>
              </a:spcBef>
              <a:spcAft>
                <a:spcPts val="0"/>
              </a:spcAft>
              <a:buClr>
                <a:srgbClr val="1A2440"/>
              </a:buClr>
              <a:buSzPts val="930"/>
              <a:buFont typeface="Calibri"/>
              <a:buChar char="•"/>
            </a:pPr>
            <a:r>
              <a:rPr lang="en-US" sz="93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título +  fuente</a:t>
            </a:r>
            <a:endParaRPr sz="9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27000" marR="0" lvl="0" indent="-127000" algn="l" rtl="0">
              <a:lnSpc>
                <a:spcPct val="98000"/>
              </a:lnSpc>
              <a:spcBef>
                <a:spcPts val="200"/>
              </a:spcBef>
              <a:spcAft>
                <a:spcPts val="0"/>
              </a:spcAft>
              <a:buClr>
                <a:srgbClr val="1A2440"/>
              </a:buClr>
              <a:buSzPts val="930"/>
              <a:buFont typeface="Calibri"/>
              <a:buChar char="•"/>
            </a:pPr>
            <a:r>
              <a:rPr lang="en-US" sz="93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IDs externos: Scopus, EID,</a:t>
            </a:r>
            <a:r>
              <a:rPr lang="en-US" sz="93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3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PubMed, OpenAlex</a:t>
            </a:r>
            <a:endParaRPr sz="93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237744" y="4828032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45454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54545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4" name="Google Shape;64;p3" descr="logo_navy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47888" y="4754880"/>
            <a:ext cx="685800" cy="2798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/>
          <p:nvPr/>
        </p:nvSpPr>
        <p:spPr>
          <a:xfrm>
            <a:off x="0" y="0"/>
            <a:ext cx="123444" cy="5143500"/>
          </a:xfrm>
          <a:prstGeom prst="rect">
            <a:avLst/>
          </a:prstGeom>
          <a:solidFill>
            <a:srgbClr val="06245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4"/>
          <p:cNvSpPr/>
          <p:nvPr/>
        </p:nvSpPr>
        <p:spPr>
          <a:xfrm>
            <a:off x="411480" y="274320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52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8C52FF"/>
                </a:solidFill>
                <a:latin typeface="Calibri"/>
                <a:ea typeface="Calibri"/>
                <a:cs typeface="Calibri"/>
                <a:sym typeface="Calibri"/>
              </a:rPr>
              <a:t>03 · COBERTURA (FILL RATES)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411480" y="512064"/>
            <a:ext cx="8321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2454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62454"/>
                </a:solidFill>
                <a:latin typeface="Calibri"/>
                <a:ea typeface="Calibri"/>
                <a:cs typeface="Calibri"/>
                <a:sym typeface="Calibri"/>
              </a:rPr>
              <a:t>Cobertura del enriquecimiento con </a:t>
            </a:r>
            <a:r>
              <a:rPr lang="en-US" sz="2000" b="1">
                <a:solidFill>
                  <a:srgbClr val="062454"/>
                </a:solidFill>
                <a:latin typeface="Calibri"/>
                <a:ea typeface="Calibri"/>
                <a:cs typeface="Calibri"/>
                <a:sym typeface="Calibri"/>
              </a:rPr>
              <a:t>OpenAlex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429768" y="1005840"/>
            <a:ext cx="749808" cy="29261"/>
          </a:xfrm>
          <a:prstGeom prst="rect">
            <a:avLst/>
          </a:prstGeom>
          <a:solidFill>
            <a:srgbClr val="CBCF0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4"/>
          <p:cNvSpPr/>
          <p:nvPr/>
        </p:nvSpPr>
        <p:spPr>
          <a:xfrm>
            <a:off x="429768" y="1133856"/>
            <a:ext cx="8321040" cy="512064"/>
          </a:xfrm>
          <a:prstGeom prst="roundRect">
            <a:avLst>
              <a:gd name="adj" fmla="val 8929"/>
            </a:avLst>
          </a:prstGeom>
          <a:solidFill>
            <a:srgbClr val="F7F8C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4"/>
          <p:cNvSpPr/>
          <p:nvPr/>
        </p:nvSpPr>
        <p:spPr>
          <a:xfrm>
            <a:off x="594360" y="1133856"/>
            <a:ext cx="80467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8A7F00"/>
              </a:buClr>
              <a:buSzPts val="1100"/>
              <a:buFont typeface="Calibri"/>
              <a:buNone/>
            </a:pPr>
            <a:r>
              <a:rPr lang="en-US" sz="105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OpenAlex se consultó </a:t>
            </a:r>
            <a:r>
              <a:rPr lang="en-US" sz="1050" i="0" u="none" strike="noStrike" cap="none">
                <a:solidFill>
                  <a:srgbClr val="062454"/>
                </a:solidFill>
                <a:latin typeface="Calibri"/>
                <a:ea typeface="Calibri"/>
                <a:cs typeface="Calibri"/>
                <a:sym typeface="Calibri"/>
              </a:rPr>
              <a:t>solo para las 1,192 filas tipo publicación</a:t>
            </a:r>
            <a:r>
              <a:rPr lang="en-US" sz="1050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6" name="Google Shape;76;p4"/>
          <p:cNvGraphicFramePr/>
          <p:nvPr/>
        </p:nvGraphicFramePr>
        <p:xfrm>
          <a:off x="429768" y="181051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{245A4B80-37F1-4B6B-AD5E-9F7A083A073E}</a:tableStyleId>
              </a:tblPr>
              <a:tblGrid>
                <a:gridCol w="3931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Métrica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EBBD6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AEBBD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 todos (2,908)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 publicación (1,192)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BCF0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44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Emparejado a una obra OpenAlex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5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545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584 · 20.1%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584 · 49.0%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44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autores OpenAlex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5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545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581 · 20.0%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581 · 48.7%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44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nombre de revista / venue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5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545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499 · 17.2%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499 · 41.9%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44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país de la institución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5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545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476 · 16.4%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476 · 39.9%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44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título de resumen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5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545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384 · 13.2%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384 · 32.2%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44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texto de resumen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5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545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168 · 5.8%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168 · 14.1%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44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palabras clave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5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545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 · 2.6%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 · 6.3%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7" name="Google Shape;77;p4"/>
          <p:cNvSpPr/>
          <p:nvPr/>
        </p:nvSpPr>
        <p:spPr>
          <a:xfrm>
            <a:off x="237744" y="4828032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45454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54545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8" name="Google Shape;78;p4" descr="logo_navy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47888" y="4754880"/>
            <a:ext cx="685800" cy="2798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57aa73056_0_0"/>
          <p:cNvSpPr/>
          <p:nvPr/>
        </p:nvSpPr>
        <p:spPr>
          <a:xfrm>
            <a:off x="0" y="0"/>
            <a:ext cx="123300" cy="5143500"/>
          </a:xfrm>
          <a:prstGeom prst="rect">
            <a:avLst/>
          </a:prstGeom>
          <a:solidFill>
            <a:srgbClr val="06245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g3f57aa73056_0_0"/>
          <p:cNvSpPr/>
          <p:nvPr/>
        </p:nvSpPr>
        <p:spPr>
          <a:xfrm>
            <a:off x="411480" y="274320"/>
            <a:ext cx="82296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52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8C52FF"/>
                </a:solidFill>
                <a:latin typeface="Calibri"/>
                <a:ea typeface="Calibri"/>
                <a:cs typeface="Calibri"/>
                <a:sym typeface="Calibri"/>
              </a:rPr>
              <a:t>03 · COBERTURA (FILL RATES)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g3f57aa73056_0_0"/>
          <p:cNvSpPr/>
          <p:nvPr/>
        </p:nvSpPr>
        <p:spPr>
          <a:xfrm>
            <a:off x="411480" y="512064"/>
            <a:ext cx="8321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62454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62454"/>
                </a:solidFill>
                <a:latin typeface="Calibri"/>
                <a:ea typeface="Calibri"/>
                <a:cs typeface="Calibri"/>
                <a:sym typeface="Calibri"/>
              </a:rPr>
              <a:t>Cobertura del enriquecimiento con </a:t>
            </a:r>
            <a:r>
              <a:rPr lang="en-US" sz="2000" b="1">
                <a:solidFill>
                  <a:srgbClr val="062454"/>
                </a:solidFill>
                <a:latin typeface="Calibri"/>
                <a:ea typeface="Calibri"/>
                <a:cs typeface="Calibri"/>
                <a:sym typeface="Calibri"/>
              </a:rPr>
              <a:t>resúmenes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f57aa73056_0_0"/>
          <p:cNvSpPr/>
          <p:nvPr/>
        </p:nvSpPr>
        <p:spPr>
          <a:xfrm>
            <a:off x="429768" y="1005840"/>
            <a:ext cx="749700" cy="29400"/>
          </a:xfrm>
          <a:prstGeom prst="rect">
            <a:avLst/>
          </a:prstGeom>
          <a:solidFill>
            <a:srgbClr val="CBCF0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88" name="Google Shape;88;g3f57aa73056_0_0"/>
          <p:cNvGraphicFramePr/>
          <p:nvPr/>
        </p:nvGraphicFramePr>
        <p:xfrm>
          <a:off x="429768" y="114503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{245A4B80-37F1-4B6B-AD5E-9F7A083A073E}</a:tableStyleId>
              </a:tblPr>
              <a:tblGrid>
                <a:gridCol w="3931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Métrica</a:t>
                      </a:r>
                      <a:endParaRPr sz="1000" b="1">
                        <a:solidFill>
                          <a:srgbClr val="F8F8F2"/>
                        </a:solidFill>
                        <a:highlight>
                          <a:srgbClr val="21222C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 anchor="ctr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 todos (2,908)</a:t>
                      </a:r>
                      <a:endParaRPr sz="1000" b="1">
                        <a:solidFill>
                          <a:srgbClr val="F8F8F2"/>
                        </a:solidFill>
                        <a:highlight>
                          <a:srgbClr val="21222C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 anchor="ctr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 publicación (1,192)</a:t>
                      </a:r>
                      <a:endParaRPr sz="1000" b="1">
                        <a:solidFill>
                          <a:srgbClr val="F8F8F2"/>
                        </a:solidFill>
                        <a:highlight>
                          <a:srgbClr val="21222C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 anchor="ctr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BCF0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título 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384 · 13.2%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384 · 32.2%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texto de resumen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168 · 5.8%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168 · 14.1%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palabras clave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 · 2.6%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 · 6.3%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Scopus ID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323 · 11.1%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323 · 27.1%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EID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323 · 11.1%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323 · 27.1%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PubMed ID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 · 2.1%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 · 5.0%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OpenAlex ID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 · 1.0%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 · 2.4%</a:t>
                      </a:r>
                      <a:endParaRPr sz="10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9050" marR="19050" marT="19050" marB="19050">
                    <a:lnL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14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9" name="Google Shape;89;g3f57aa73056_0_0"/>
          <p:cNvSpPr/>
          <p:nvPr/>
        </p:nvSpPr>
        <p:spPr>
          <a:xfrm>
            <a:off x="237744" y="4828032"/>
            <a:ext cx="6402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45454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54545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g3f57aa73056_0_0" descr="logo_navy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47888" y="4754880"/>
            <a:ext cx="685799" cy="2798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580f3e264_1_0"/>
          <p:cNvSpPr/>
          <p:nvPr/>
        </p:nvSpPr>
        <p:spPr>
          <a:xfrm>
            <a:off x="411480" y="274320"/>
            <a:ext cx="82296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C52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8C52F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lang="en-US" sz="1000" b="1">
                <a:solidFill>
                  <a:srgbClr val="8C52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lang="en-US" sz="1000" b="1" i="0" u="none" strike="noStrike" cap="none">
                <a:solidFill>
                  <a:srgbClr val="8C52FF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r>
              <a:rPr lang="en-US" sz="1000" b="1">
                <a:solidFill>
                  <a:srgbClr val="8C52FF"/>
                </a:solidFill>
                <a:latin typeface="Calibri"/>
                <a:ea typeface="Calibri"/>
                <a:cs typeface="Calibri"/>
                <a:sym typeface="Calibri"/>
              </a:rPr>
              <a:t>RESUMEN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97" name="Google Shape;97;g3f580f3e264_1_0"/>
          <p:cNvGraphicFramePr/>
          <p:nvPr/>
        </p:nvGraphicFramePr>
        <p:xfrm>
          <a:off x="1463031" y="199571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{245A4B80-37F1-4B6B-AD5E-9F7A083A073E}</a:tableStyleId>
              </a:tblPr>
              <a:tblGrid>
                <a:gridCol w="3931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Métrica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Publicación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BCF0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44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Registros totales</a:t>
                      </a:r>
                      <a:endParaRPr sz="1000">
                        <a:solidFill>
                          <a:srgbClr val="1A244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1192</a:t>
                      </a:r>
                      <a:endParaRPr sz="1000" b="1">
                        <a:solidFill>
                          <a:srgbClr val="06245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resúmenes</a:t>
                      </a:r>
                      <a:endParaRPr sz="1000">
                        <a:solidFill>
                          <a:srgbClr val="1A244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168 (14.1%)</a:t>
                      </a:r>
                      <a:endParaRPr sz="1000" b="1" u="none" strike="noStrike" cap="none">
                        <a:solidFill>
                          <a:srgbClr val="06245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 palabras clave</a:t>
                      </a:r>
                      <a:endParaRPr sz="1000">
                        <a:solidFill>
                          <a:srgbClr val="1A244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 (6.3%)</a:t>
                      </a:r>
                      <a:endParaRPr sz="1000" b="1" u="none" strike="noStrike" cap="none">
                        <a:solidFill>
                          <a:srgbClr val="06245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f3b9e97853_3_0"/>
          <p:cNvSpPr/>
          <p:nvPr/>
        </p:nvSpPr>
        <p:spPr>
          <a:xfrm>
            <a:off x="0" y="0"/>
            <a:ext cx="123444" cy="5143500"/>
          </a:xfrm>
          <a:prstGeom prst="rect">
            <a:avLst/>
          </a:prstGeom>
          <a:solidFill>
            <a:srgbClr val="06245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g3f3b9e97853_3_0"/>
          <p:cNvSpPr/>
          <p:nvPr/>
        </p:nvSpPr>
        <p:spPr>
          <a:xfrm>
            <a:off x="411480" y="274320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C52FF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8C52FF"/>
                </a:solidFill>
                <a:latin typeface="Calibri"/>
                <a:ea typeface="Calibri"/>
                <a:cs typeface="Calibri"/>
                <a:sym typeface="Calibri"/>
              </a:rPr>
              <a:t>05 · CONTENIDO OPENALEX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g3f3b9e97853_3_0"/>
          <p:cNvSpPr/>
          <p:nvPr/>
        </p:nvSpPr>
        <p:spPr>
          <a:xfrm>
            <a:off x="411480" y="512064"/>
            <a:ext cx="8321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62454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062454"/>
                </a:solidFill>
                <a:latin typeface="Calibri"/>
                <a:ea typeface="Calibri"/>
                <a:cs typeface="Calibri"/>
                <a:sym typeface="Calibri"/>
              </a:rPr>
              <a:t>Cobertura del enriquecimiento con países de institución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g3f3b9e97853_3_0"/>
          <p:cNvSpPr/>
          <p:nvPr/>
        </p:nvSpPr>
        <p:spPr>
          <a:xfrm>
            <a:off x="429768" y="1005840"/>
            <a:ext cx="749808" cy="29261"/>
          </a:xfrm>
          <a:prstGeom prst="rect">
            <a:avLst/>
          </a:prstGeom>
          <a:solidFill>
            <a:srgbClr val="CBCF0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g3f3b9e97853_3_0"/>
          <p:cNvSpPr/>
          <p:nvPr/>
        </p:nvSpPr>
        <p:spPr>
          <a:xfrm>
            <a:off x="429768" y="1133856"/>
            <a:ext cx="8321040" cy="512064"/>
          </a:xfrm>
          <a:prstGeom prst="roundRect">
            <a:avLst>
              <a:gd name="adj" fmla="val 8929"/>
            </a:avLst>
          </a:prstGeom>
          <a:solidFill>
            <a:srgbClr val="F7F8C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g3f3b9e97853_3_0"/>
          <p:cNvSpPr/>
          <p:nvPr/>
        </p:nvSpPr>
        <p:spPr>
          <a:xfrm>
            <a:off x="594360" y="1133856"/>
            <a:ext cx="80467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8A7F00"/>
              </a:buClr>
              <a:buSzPts val="1100"/>
              <a:buFont typeface="Calibri"/>
              <a:buNone/>
            </a:pPr>
            <a:r>
              <a:rPr lang="en-US" sz="105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El país de institución </a:t>
            </a:r>
            <a:r>
              <a:rPr lang="en-US" sz="1050" b="0" i="0" u="none" strike="noStrike" cap="none">
                <a:solidFill>
                  <a:srgbClr val="062454"/>
                </a:solidFill>
                <a:latin typeface="Calibri"/>
                <a:ea typeface="Calibri"/>
                <a:cs typeface="Calibri"/>
                <a:sym typeface="Calibri"/>
              </a:rPr>
              <a:t>se identificó en 476 de las 584 filas emparejadas (81.5%)</a:t>
            </a:r>
            <a:r>
              <a:rPr lang="en-US" sz="1050" b="0" i="0" u="none" strike="noStrike" cap="none">
                <a:solidFill>
                  <a:srgbClr val="1A2440"/>
                </a:solidFill>
                <a:latin typeface="Calibri"/>
                <a:ea typeface="Calibri"/>
                <a:cs typeface="Calibri"/>
                <a:sym typeface="Calibri"/>
              </a:rPr>
              <a:t>; una publicación puede tener autores de más de un país.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8" name="Google Shape;108;g3f3b9e97853_3_0"/>
          <p:cNvGraphicFramePr/>
          <p:nvPr/>
        </p:nvGraphicFramePr>
        <p:xfrm>
          <a:off x="429768" y="181051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{F45DF982-1AF4-4FB0-8324-527E0B633D99}</a:tableStyleId>
              </a:tblPr>
              <a:tblGrid>
                <a:gridCol w="3931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País de la institución (código ISO)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EBBD6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AEBBD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Menciones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% de las 476 filas con país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BCF0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44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Perú (PE)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5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545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403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84.7%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44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Estados Unidos (US)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5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545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92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19.3%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44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España (ES)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5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545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46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9.7%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44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Brasil (BR)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5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545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44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9.2%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44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Alemania (DE)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5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545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5.9%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44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México (MX)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5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545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4.4%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8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44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1A24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Francia (FR)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45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545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62454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6245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4.4%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6200" marR="76200" marT="25400" marB="25400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9" name="Google Shape;109;g3f3b9e97853_3_0"/>
          <p:cNvSpPr/>
          <p:nvPr/>
        </p:nvSpPr>
        <p:spPr>
          <a:xfrm>
            <a:off x="237744" y="4828032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45454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545454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0" name="Google Shape;110;g3f3b9e97853_3_0" descr="logo_navy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47888" y="4754880"/>
            <a:ext cx="685800" cy="2798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3444" cy="5143500"/>
          </a:xfrm>
          <a:prstGeom prst="rect">
            <a:avLst/>
          </a:prstGeom>
          <a:solidFill>
            <a:srgbClr val="062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74320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8C52FF"/>
                </a:solidFill>
                <a:latin typeface="Calibri"/>
              </a:rPr>
              <a:t>06 · 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2064"/>
            <a:ext cx="8321040" cy="4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62454"/>
                </a:solidFill>
                <a:latin typeface="Calibri"/>
              </a:rPr>
              <a:t>De texto a vectores: 7 modelos, 2 corpus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" y="1005840"/>
            <a:ext cx="749808" cy="29261"/>
          </a:xfrm>
          <a:prstGeom prst="rect">
            <a:avLst/>
          </a:prstGeom>
          <a:solidFill>
            <a:srgbClr val="CBCF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7744" y="482803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45454"/>
                </a:solidFill>
                <a:latin typeface="Calibri"/>
              </a:rPr>
              <a:t>9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4754880"/>
            <a:ext cx="685800" cy="27980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9768" y="1110000"/>
            <a:ext cx="8284464" cy="500000"/>
          </a:xfrm>
          <a:prstGeom prst="roundRect">
            <a:avLst>
              <a:gd name="adj" fmla="val 12000"/>
            </a:avLst>
          </a:prstGeom>
          <a:solidFill>
            <a:srgbClr val="F7F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9768" y="1110000"/>
            <a:ext cx="7964464" cy="5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1A2440"/>
                </a:solidFill>
                <a:latin typeface="Calibri"/>
              </a:rPr>
              <a:t>7 modelos comparados; mejor silhouette de cada uno en proyectos (938 filas, título+tipo+área+líneas+unidad) y en publicaciones (13,995 filas, título+resumen+palabras clave+revista).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9768" y="1720000"/>
          <a:ext cx="8400000" cy="2350000"/>
        </p:xfrm>
        <a:graphic>
          <a:graphicData uri="http://schemas.openxmlformats.org/drawingml/2006/table">
            <a:tbl>
              <a:tblPr/>
              <a:tblGrid>
                <a:gridCol w="30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375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Dim.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Sil. proyectos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Sil. publicaciones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0624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75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8A7F00"/>
                          </a:solidFill>
                          <a:latin typeface="Calibri"/>
                        </a:rPr>
                        <a:t>jina-embeddings-v5-text-nano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BFCE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8A7F00"/>
                          </a:solidFill>
                          <a:latin typeface="Calibri"/>
                        </a:rPr>
                        <a:t>Multilingüe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BFC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8A7F00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BFC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8A7F00"/>
                          </a:solidFill>
                          <a:latin typeface="Calibri"/>
                        </a:rPr>
                        <a:t>0.259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BFC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8A7F00"/>
                          </a:solidFill>
                          <a:latin typeface="Calibri"/>
                        </a:rPr>
                        <a:t>0.263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BF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75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paraphrase-multilingual-MiniLM-L12-v2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Multilingüe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384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0.118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0.303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75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bge-m3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Multilingüe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1024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0.104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75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snowflake-arctic-embed-l-v2.0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Multilingüe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1024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0.069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0.029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75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nomic-embed-text-v2-moe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Multilingüe (MoE)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0.037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375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multilingual-e5-small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Multilingüe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384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0.054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0.029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75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TF-IDF (baseline)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Frecuencia (baseline)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2000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0.053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0.025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429768" y="4180000"/>
            <a:ext cx="8284464" cy="5600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9768" y="4180000"/>
            <a:ext cx="7964464" cy="5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1A2440"/>
                </a:solidFill>
                <a:latin typeface="Calibri"/>
              </a:rPr>
              <a:t>jina-v5-nano es el único modelo fuerte en ambos corpus a la vez; MiniLM solo destaca en publicaciones (y solo con HDBSCAN — ver siguiente slide). gte-multilingual-base se descartó del registro por un bug abierto y no resuelto en sentence-transformers.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3444" cy="5143500"/>
          </a:xfrm>
          <a:prstGeom prst="rect">
            <a:avLst/>
          </a:prstGeom>
          <a:solidFill>
            <a:srgbClr val="062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74320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8C52FF"/>
                </a:solidFill>
                <a:latin typeface="Calibri"/>
              </a:rPr>
              <a:t>07 ·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2064"/>
            <a:ext cx="8321040" cy="44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62454"/>
                </a:solidFill>
                <a:latin typeface="Calibri"/>
              </a:rPr>
              <a:t>4 métodos, 2 corpus: mejor combinación por método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" y="1005840"/>
            <a:ext cx="749808" cy="29261"/>
          </a:xfrm>
          <a:prstGeom prst="rect">
            <a:avLst/>
          </a:prstGeom>
          <a:solidFill>
            <a:srgbClr val="CBCF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7744" y="482803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45454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4754880"/>
            <a:ext cx="685800" cy="27980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1120000"/>
            <a:ext cx="8284464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62454"/>
                </a:solidFill>
                <a:latin typeface="Calibri"/>
              </a:rPr>
              <a:t>Proyectos (938 filas)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29768" y="1400000"/>
          <a:ext cx="7300000" cy="1180000"/>
        </p:xfrm>
        <a:graphic>
          <a:graphicData uri="http://schemas.openxmlformats.org/drawingml/2006/table">
            <a:tbl>
              <a:tblPr/>
              <a:tblGrid>
                <a:gridCol w="17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60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Mejor modelo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silhouette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% ruido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0624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HDBSCAN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jina-v5-nano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8A7F00"/>
                          </a:solidFill>
                          <a:latin typeface="Calibri"/>
                        </a:rPr>
                        <a:t>0.259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BFC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57.9%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0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jina-v5-nano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0.150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0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Gaussian Mixture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jina-v5-nano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0.148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0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Agglomerative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jina-v5-nano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0.140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29768" y="2760000"/>
            <a:ext cx="8284464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62454"/>
                </a:solidFill>
                <a:latin typeface="Calibri"/>
              </a:rPr>
              <a:t>Publicaciones (13,995 filas)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29768" y="3040000"/>
          <a:ext cx="7300000" cy="1180000"/>
        </p:xfrm>
        <a:graphic>
          <a:graphicData uri="http://schemas.openxmlformats.org/drawingml/2006/table">
            <a:tbl>
              <a:tblPr/>
              <a:tblGrid>
                <a:gridCol w="17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60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Mejor modelo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silhouette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06245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% ruido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0624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HDBSCAN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MiniLM-L12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8A7F00"/>
                          </a:solidFill>
                          <a:latin typeface="Calibri"/>
                        </a:rPr>
                        <a:t>0.303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BFC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70.6%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0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jina-v5-nano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0.120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0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Gaussian Mixture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jina-v5-nano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0.114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0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Agglomerative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jina-v5-nano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0.092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1A2440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marL="70000" marR="50000" marT="20000" marB="20000" anchor="ctr">
                    <a:lnL w="3175" cap="flat" cmpd="sng" algn="ctr">
                      <a:noFill/>
                    </a:lnL>
                    <a:lnR w="3175" cap="flat" cmpd="sng" algn="ctr">
                      <a:noFill/>
                    </a:lnR>
                    <a:lnT w="3175" cap="flat" cmpd="sng" algn="ctr">
                      <a:noFill/>
                    </a:lnT>
                    <a:lnB w="3175" cap="flat" cmpd="sng" algn="ctr"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29768" y="4380000"/>
            <a:ext cx="4084464" cy="3800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9768" y="4380000"/>
            <a:ext cx="3764464" cy="3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1A2440"/>
                </a:solidFill>
                <a:latin typeface="Calibri"/>
              </a:rPr>
              <a:t>MiniLM+HDBSCAN: silhouette más alto del estudio, pero solo 2 clusters gruesos y 70.6% de ruido.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30000" y="4380000"/>
            <a:ext cx="4084464" cy="380000"/>
          </a:xfrm>
          <a:prstGeom prst="roundRect">
            <a:avLst>
              <a:gd name="adj" fmla="val 12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90000" y="4380000"/>
            <a:ext cx="3764464" cy="3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1A2440"/>
                </a:solidFill>
                <a:latin typeface="Calibri"/>
              </a:rPr>
              <a:t>jina-v5-nano gana K-Means/GMM/Agglomerative en ambos corpus: 0% ruido, cobertura completa.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g3f3b9e97853_4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2850" y="279750"/>
            <a:ext cx="4092225" cy="432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B34E678-1E46-4546-B2BB-9E810DDF203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65ac2f44-dee0-480b-ad8a-b25a5f684a4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897</Words>
  <Application>Microsoft Office PowerPoint</Application>
  <PresentationFormat>On-screen Show (16:9)</PresentationFormat>
  <Paragraphs>255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Harvy Martínez</cp:lastModifiedBy>
  <cp:revision>2</cp:revision>
  <dcterms:created xsi:type="dcterms:W3CDTF">2026-07-21T00:41:47Z</dcterms:created>
  <dcterms:modified xsi:type="dcterms:W3CDTF">2026-08-18T23:27:32Z</dcterms:modified>
</cp:coreProperties>
</file>